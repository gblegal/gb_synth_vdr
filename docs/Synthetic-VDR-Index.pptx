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chart8.xml" ContentType="application/vnd.openxmlformats-officedocument.drawingml.chart+xml"/>
  <Override PartName="/ppt/charts/chart9.xml" ContentType="application/vnd.openxmlformats-officedocument.drawingml.chart+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7" r:id="rId20"/>
    <p:sldId id="259" r:id="rId5"/>
    <p:sldId id="260" r:id="rId6"/>
    <p:sldId id="261" r:id="rId7"/>
    <p:sldId id="262" r:id="rId8"/>
    <p:sldId id="263" r:id="rId9"/>
    <p:sldId id="264" r:id="rId10"/>
    <p:sldId id="265" r:id="rId11"/>
    <p:sldId id="268" r:id="rId18"/>
    <p:sldId id="269" r:id="rId19"/>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Employment</c:v>
                  </c:pt>
                  <c:pt idx="2">
                    <c:v>Finance &amp; tax</c:v>
                  </c:pt>
                  <c:pt idx="3">
                    <c:v>IP &amp; IT</c:v>
                  </c:pt>
                  <c:pt idx="4">
                    <c:v>Corporate</c:v>
                  </c:pt>
                  <c:pt idx="5">
                    <c:v>Real estate</c:v>
                  </c:pt>
                  <c:pt idx="6">
                    <c:v>Regulatory</c:v>
                  </c:pt>
                  <c:pt idx="7">
                    <c:v>Litigation</c:v>
                  </c:pt>
                </c:lvl>
              </c:multiLvlStrCache>
            </c:multiLvlStrRef>
          </c:cat>
          <c:val>
            <c:numRef>
              <c:f>Sheet1!$B$2:$B$9</c:f>
              <c:numCache>
                <c:formatCode>General</c:formatCode>
                <c:ptCount val="8"/>
                <c:pt idx="0">
                  <c:v>195</c:v>
                </c:pt>
                <c:pt idx="1">
                  <c:v>195</c:v>
                </c:pt>
                <c:pt idx="2">
                  <c:v>115</c:v>
                </c:pt>
                <c:pt idx="3">
                  <c:v>90</c:v>
                </c:pt>
                <c:pt idx="4">
                  <c:v>80</c:v>
                </c:pt>
                <c:pt idx="5">
                  <c:v>70</c:v>
                </c:pt>
                <c:pt idx="6">
                  <c:v>60</c:v>
                </c:pt>
                <c:pt idx="7">
                  <c:v>50</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244"/>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Corporate</c:v>
                  </c:pt>
                  <c:pt idx="2">
                    <c:v>Employment</c:v>
                  </c:pt>
                  <c:pt idx="3">
                    <c:v>Financial</c:v>
                  </c:pt>
                  <c:pt idx="4">
                    <c:v>Real estate</c:v>
                  </c:pt>
                  <c:pt idx="5">
                    <c:v>IP</c:v>
                  </c:pt>
                  <c:pt idx="6">
                    <c:v>Regulatory</c:v>
                  </c:pt>
                  <c:pt idx="7">
                    <c:v>Tax</c:v>
                  </c:pt>
                </c:lvl>
              </c:multiLvlStrCache>
            </c:multiLvlStrRef>
          </c:cat>
          <c:val>
            <c:numRef>
              <c:f>Sheet1!$B$2:$B$9</c:f>
              <c:numCache>
                <c:formatCode>General</c:formatCode>
                <c:ptCount val="8"/>
                <c:pt idx="0">
                  <c:v>526</c:v>
                </c:pt>
                <c:pt idx="1">
                  <c:v>273</c:v>
                </c:pt>
                <c:pt idx="2">
                  <c:v>229</c:v>
                </c:pt>
                <c:pt idx="3">
                  <c:v>223</c:v>
                </c:pt>
                <c:pt idx="4">
                  <c:v>188</c:v>
                </c:pt>
                <c:pt idx="5">
                  <c:v>173</c:v>
                </c:pt>
                <c:pt idx="6">
                  <c:v>151</c:v>
                </c:pt>
                <c:pt idx="7">
                  <c:v>148</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658"/>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Corporate</c:v>
                  </c:pt>
                  <c:pt idx="2">
                    <c:v>Financial</c:v>
                  </c:pt>
                  <c:pt idx="3">
                    <c:v>Employment</c:v>
                  </c:pt>
                  <c:pt idx="4">
                    <c:v>IP</c:v>
                  </c:pt>
                  <c:pt idx="5">
                    <c:v>Regulatory</c:v>
                  </c:pt>
                  <c:pt idx="6">
                    <c:v>Tax</c:v>
                  </c:pt>
                  <c:pt idx="7">
                    <c:v>Property</c:v>
                  </c:pt>
                </c:lvl>
              </c:multiLvlStrCache>
            </c:multiLvlStrRef>
          </c:cat>
          <c:val>
            <c:numRef>
              <c:f>Sheet1!$B$2:$B$9</c:f>
              <c:numCache>
                <c:formatCode>General</c:formatCode>
                <c:ptCount val="8"/>
                <c:pt idx="0">
                  <c:v>115</c:v>
                </c:pt>
                <c:pt idx="1">
                  <c:v>70</c:v>
                </c:pt>
                <c:pt idx="2">
                  <c:v>60</c:v>
                </c:pt>
                <c:pt idx="3">
                  <c:v>55</c:v>
                </c:pt>
                <c:pt idx="4">
                  <c:v>42</c:v>
                </c:pt>
                <c:pt idx="5">
                  <c:v>42</c:v>
                </c:pt>
                <c:pt idx="6">
                  <c:v>38</c:v>
                </c:pt>
                <c:pt idx="7">
                  <c:v>38</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144"/>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Environmental &amp; HS</c:v>
                  </c:pt>
                  <c:pt idx="2">
                    <c:v>Employment</c:v>
                  </c:pt>
                  <c:pt idx="3">
                    <c:v>Corporate</c:v>
                  </c:pt>
                  <c:pt idx="4">
                    <c:v>Property</c:v>
                  </c:pt>
                  <c:pt idx="5">
                    <c:v>Regulatory &amp; trade</c:v>
                  </c:pt>
                  <c:pt idx="6">
                    <c:v>Operations</c:v>
                  </c:pt>
                  <c:pt idx="7">
                    <c:v>Financial</c:v>
                  </c:pt>
                </c:lvl>
              </c:multiLvlStrCache>
            </c:multiLvlStrRef>
          </c:cat>
          <c:val>
            <c:numRef>
              <c:f>Sheet1!$B$2:$B$9</c:f>
              <c:numCache>
                <c:formatCode>General</c:formatCode>
                <c:ptCount val="8"/>
                <c:pt idx="0">
                  <c:v>501</c:v>
                </c:pt>
                <c:pt idx="1">
                  <c:v>327</c:v>
                </c:pt>
                <c:pt idx="2">
                  <c:v>290</c:v>
                </c:pt>
                <c:pt idx="3">
                  <c:v>271</c:v>
                </c:pt>
                <c:pt idx="4">
                  <c:v>253</c:v>
                </c:pt>
                <c:pt idx="5">
                  <c:v>249</c:v>
                </c:pt>
                <c:pt idx="6">
                  <c:v>248</c:v>
                </c:pt>
                <c:pt idx="7">
                  <c:v>231</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627"/>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Employment</c:v>
                  </c:pt>
                  <c:pt idx="2">
                    <c:v>Environmental &amp; HS</c:v>
                  </c:pt>
                  <c:pt idx="3">
                    <c:v>Corporate</c:v>
                  </c:pt>
                  <c:pt idx="4">
                    <c:v>Financial</c:v>
                  </c:pt>
                  <c:pt idx="5">
                    <c:v>Property</c:v>
                  </c:pt>
                  <c:pt idx="6">
                    <c:v>Regulatory &amp; trade</c:v>
                  </c:pt>
                  <c:pt idx="7">
                    <c:v>Transaction</c:v>
                  </c:pt>
                </c:lvl>
              </c:multiLvlStrCache>
            </c:multiLvlStrRef>
          </c:cat>
          <c:val>
            <c:numRef>
              <c:f>Sheet1!$B$2:$B$9</c:f>
              <c:numCache>
                <c:formatCode>General</c:formatCode>
                <c:ptCount val="8"/>
                <c:pt idx="0">
                  <c:v>21</c:v>
                </c:pt>
                <c:pt idx="1">
                  <c:v>14</c:v>
                </c:pt>
                <c:pt idx="2">
                  <c:v>14</c:v>
                </c:pt>
                <c:pt idx="3">
                  <c:v>12</c:v>
                </c:pt>
                <c:pt idx="4">
                  <c:v>12</c:v>
                </c:pt>
                <c:pt idx="5">
                  <c:v>12</c:v>
                </c:pt>
                <c:pt idx="6">
                  <c:v>12</c:v>
                </c:pt>
                <c:pt idx="7">
                  <c:v>12</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Employment</c:v>
                  </c:pt>
                  <c:pt idx="2">
                    <c:v>Environmental &amp; HS</c:v>
                  </c:pt>
                  <c:pt idx="3">
                    <c:v>Corporate</c:v>
                  </c:pt>
                  <c:pt idx="4">
                    <c:v>Financial</c:v>
                  </c:pt>
                  <c:pt idx="5">
                    <c:v>Property</c:v>
                  </c:pt>
                  <c:pt idx="6">
                    <c:v>Regulatory &amp; trade</c:v>
                  </c:pt>
                  <c:pt idx="7">
                    <c:v>Transaction</c:v>
                  </c:pt>
                </c:lvl>
              </c:multiLvlStrCache>
            </c:multiLvlStrRef>
          </c:cat>
          <c:val>
            <c:numRef>
              <c:f>Sheet1!$B$2:$B$9</c:f>
              <c:numCache>
                <c:formatCode>General</c:formatCode>
                <c:ptCount val="8"/>
                <c:pt idx="0">
                  <c:v>21</c:v>
                </c:pt>
                <c:pt idx="1">
                  <c:v>14</c:v>
                </c:pt>
                <c:pt idx="2">
                  <c:v>14</c:v>
                </c:pt>
                <c:pt idx="3">
                  <c:v>12</c:v>
                </c:pt>
                <c:pt idx="4">
                  <c:v>12</c:v>
                </c:pt>
                <c:pt idx="5">
                  <c:v>12</c:v>
                </c:pt>
                <c:pt idx="6">
                  <c:v>12</c:v>
                </c:pt>
                <c:pt idx="7">
                  <c:v>12</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Employment</c:v>
                  </c:pt>
                  <c:pt idx="2">
                    <c:v>Environmental &amp; HS</c:v>
                  </c:pt>
                  <c:pt idx="3">
                    <c:v>Corporate</c:v>
                  </c:pt>
                  <c:pt idx="4">
                    <c:v>Financial</c:v>
                  </c:pt>
                  <c:pt idx="5">
                    <c:v>Property</c:v>
                  </c:pt>
                  <c:pt idx="6">
                    <c:v>Regulatory &amp; trade</c:v>
                  </c:pt>
                  <c:pt idx="7">
                    <c:v>Transaction</c:v>
                  </c:pt>
                </c:lvl>
              </c:multiLvlStrCache>
            </c:multiLvlStrRef>
          </c:cat>
          <c:val>
            <c:numRef>
              <c:f>Sheet1!$B$2:$B$9</c:f>
              <c:numCache>
                <c:formatCode>General</c:formatCode>
                <c:ptCount val="8"/>
                <c:pt idx="0">
                  <c:v>21</c:v>
                </c:pt>
                <c:pt idx="1">
                  <c:v>14</c:v>
                </c:pt>
                <c:pt idx="2">
                  <c:v>14</c:v>
                </c:pt>
                <c:pt idx="3">
                  <c:v>12</c:v>
                </c:pt>
                <c:pt idx="4">
                  <c:v>12</c:v>
                </c:pt>
                <c:pt idx="5">
                  <c:v>12</c:v>
                </c:pt>
                <c:pt idx="6">
                  <c:v>12</c:v>
                </c:pt>
                <c:pt idx="7">
                  <c:v>12</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Employment</c:v>
                  </c:pt>
                  <c:pt idx="2">
                    <c:v>Environmental &amp; HS</c:v>
                  </c:pt>
                  <c:pt idx="3">
                    <c:v>Corporate</c:v>
                  </c:pt>
                  <c:pt idx="4">
                    <c:v>Financial</c:v>
                  </c:pt>
                  <c:pt idx="5">
                    <c:v>Property</c:v>
                  </c:pt>
                  <c:pt idx="6">
                    <c:v>Regulatory &amp; trade</c:v>
                  </c:pt>
                  <c:pt idx="7">
                    <c:v>Transaction</c:v>
                  </c:pt>
                </c:lvl>
              </c:multiLvlStrCache>
            </c:multiLvlStrRef>
          </c:cat>
          <c:val>
            <c:numRef>
              <c:f>Sheet1!$B$2:$B$9</c:f>
              <c:numCache>
                <c:formatCode>General</c:formatCode>
                <c:ptCount val="8"/>
                <c:pt idx="0">
                  <c:v>87</c:v>
                </c:pt>
                <c:pt idx="1">
                  <c:v>56</c:v>
                </c:pt>
                <c:pt idx="2">
                  <c:v>56</c:v>
                </c:pt>
                <c:pt idx="3">
                  <c:v>48</c:v>
                </c:pt>
                <c:pt idx="4">
                  <c:v>48</c:v>
                </c:pt>
                <c:pt idx="5">
                  <c:v>48</c:v>
                </c:pt>
                <c:pt idx="6">
                  <c:v>48</c:v>
                </c:pt>
                <c:pt idx="7">
                  <c:v>48</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112"/>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Documents</c:v>
                </c:pt>
              </c:strCache>
            </c:strRef>
          </c:tx>
          <c:spPr>
            <a:solidFill>
              <a:srgbClr val="155E75"/>
            </a:solidFill>
            <a:effectLst/>
          </c:spPr>
          <c:invertIfNegative val="0"/>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Commercial</c:v>
                  </c:pt>
                  <c:pt idx="1">
                    <c:v>Employment</c:v>
                  </c:pt>
                  <c:pt idx="2">
                    <c:v>Environmental &amp; HS</c:v>
                  </c:pt>
                  <c:pt idx="3">
                    <c:v>Corporate</c:v>
                  </c:pt>
                  <c:pt idx="4">
                    <c:v>Financial</c:v>
                  </c:pt>
                  <c:pt idx="5">
                    <c:v>Property</c:v>
                  </c:pt>
                  <c:pt idx="6">
                    <c:v>Regulatory &amp; trade</c:v>
                  </c:pt>
                  <c:pt idx="7">
                    <c:v>Transaction</c:v>
                  </c:pt>
                </c:lvl>
              </c:multiLvlStrCache>
            </c:multiLvlStrRef>
          </c:cat>
          <c:val>
            <c:numRef>
              <c:f>Sheet1!$B$2:$B$9</c:f>
              <c:numCache>
                <c:formatCode>General</c:formatCode>
                <c:ptCount val="8"/>
                <c:pt idx="0">
                  <c:v>219</c:v>
                </c:pt>
                <c:pt idx="1">
                  <c:v>140</c:v>
                </c:pt>
                <c:pt idx="2">
                  <c:v>140</c:v>
                </c:pt>
                <c:pt idx="3">
                  <c:v>120</c:v>
                </c:pt>
                <c:pt idx="4">
                  <c:v>120</c:v>
                </c:pt>
                <c:pt idx="5">
                  <c:v>120</c:v>
                </c:pt>
                <c:pt idx="6">
                  <c:v>120</c:v>
                </c:pt>
                <c:pt idx="7">
                  <c:v>120</c:v>
                </c:pt>
              </c:numCache>
            </c:numRef>
          </c:val>
        </c:ser>
        <c:dLbls>
          <c:numFmt formatCode="#,##0" sourceLinked="0"/>
          <c:txPr>
            <a:bodyPr/>
            <a:lstStyle/>
            <a:p>
              <a:pPr>
                <a:defRPr b="0" i="0" strike="noStrike" sz="750" u="none">
                  <a:solidFill>
                    <a:srgbClr val="6B6962"/>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A3833"/>
                </a:solidFill>
                <a:latin typeface="Calibri"/>
              </a:defRPr>
            </a:pPr>
            <a:endParaRPr lang="en-US"/>
          </a:p>
        </c:txPr>
        <c:crossAx val="2094734552"/>
        <c:crosses val="autoZero"/>
        <c:auto val="1"/>
        <c:lblAlgn val="ctr"/>
        <c:noMultiLvlLbl val="1"/>
      </c:catAx>
      <c:valAx>
        <c:axId val="2094734552"/>
        <c:scaling>
          <c:orientation val="minMax"/>
          <c:max val="282"/>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Totals are summed from each repo's answer key (docs = canonical blind room; findings = registry count; red herrings = catalogued distractors; room 01 has no distractor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gb_synth_vdr README.md and plugin.json (v0.12.0). Projects hub card on projects.gregnb.com carries the same lineage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of the nine rooms. Hand-built: 01–04. Generator-built: 05–09.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Halcyon (ll_vdr_01). Local checkout ~/Dev/ll_vdr_01. Built 28 May 2026.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Halcyon (ll_vdr_02). Local checkout ~/Dev/ll_vdr_02. Built Frozen 25 Aug 2026.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Argent (ll_vdr_03). Local checkout ~/Dev/ll_vdr_03. Built 7 Jul 2026 (key updated 25 Aug).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Crucible (ll_vdr_04). Local checkout ~/Dev/ll_vdr_04. Built Frozen 24 Aug 2026 (v1.0-frozen).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Quern (ll_vdr_05). Local checkout ~/Dev/ll_vdr_05. Built 1 Sep 2026.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Cairn (ll_vdr_06). Local checkout ~/Dev/ll_vdr_06. Built 2 Sep 2026.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Ellsgarth (ll_vdr_07). Local checkout ~/Dev/ll_vdr_07. Built 3 Sep 2026. Facts taken from the repo's fact sheet, findings registry and index on 8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guide. Rooms 05–07 also carry a classification answer key for gb-docclass. Room 07 is the designated unseen room: do not tune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Frithcombe (ll_vdr_08). Local checkout ~/Dev/ll_vdr_08. Frozen 18 Sep 2026 at v1.4.0. Facts taken from the repo's fact sheet, findings registry and eval runs on 22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Tarnwold (ll_vdr_09). Local checkout ~/Dev/ll_vdr_09. Authoring and audit complete 22 Sep 2026; /vdr-package not yet run. Facts taken from the repo's fact sheet, findings registry and build status on 22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Bidder materials by room. Counts taken from the rooms on 22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1143000"/>
            <a:ext cx="548640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GREG · GB_SYNTH_VDR</a:t>
            </a:r>
            <a:endParaRPr lang="en-US" sz="900" dirty="0"/>
          </a:p>
        </p:txBody>
      </p:sp>
      <p:sp>
        <p:nvSpPr>
          <p:cNvPr id="3" name="Text 1"/>
          <p:cNvSpPr txBox="1"/>
          <p:nvPr/>
        </p:nvSpPr>
        <p:spPr>
          <a:xfrm>
            <a:off x="548640" y="1463040"/>
            <a:ext cx="6766560" cy="1737360"/>
          </a:xfrm>
          <a:prstGeom prst="rect">
            <a:avLst/>
          </a:prstGeom>
          <a:noFill/>
          <a:ln/>
        </p:spPr>
        <p:txBody>
          <a:bodyPr wrap="square" lIns="0" tIns="0" rIns="0" bIns="0" rtlCol="0" anchor="t"/>
          <a:lstStyle/>
          <a:p>
            <a:pPr indent="0" marL="0">
              <a:lnSpc>
                <a:spcPct val="105000"/>
              </a:lnSpc>
              <a:buNone/>
            </a:pPr>
            <a:r>
              <a:rPr lang="en-US" sz="4400" dirty="0">
                <a:solidFill>
                  <a:srgbClr val="1A1A1A"/>
                </a:solidFill>
                <a:latin typeface="Cambria" pitchFamily="34" charset="0"/>
                <a:ea typeface="Cambria" pitchFamily="34" charset="-122"/>
                <a:cs typeface="Cambria" pitchFamily="34" charset="-120"/>
              </a:rPr>
              <a:t>Synthetic data rooms.</a:t>
            </a:r>
            <a:endParaRPr lang="en-US" sz="4400" dirty="0"/>
          </a:p>
          <a:p>
            <a:pPr indent="0" marL="0">
              <a:lnSpc>
                <a:spcPct val="105000"/>
              </a:lnSpc>
              <a:buNone/>
            </a:pPr>
            <a:r>
              <a:rPr lang="en-US" sz="4400" dirty="0">
                <a:solidFill>
                  <a:srgbClr val="1A1A1A"/>
                </a:solidFill>
                <a:latin typeface="Cambria" pitchFamily="34" charset="0"/>
                <a:ea typeface="Cambria" pitchFamily="34" charset="-122"/>
                <a:cs typeface="Cambria" pitchFamily="34" charset="-120"/>
              </a:rPr>
              <a:t>A menu for testing AI tools.</a:t>
            </a:r>
            <a:endParaRPr lang="en-US" sz="4400" dirty="0"/>
          </a:p>
        </p:txBody>
      </p:sp>
      <p:sp>
        <p:nvSpPr>
          <p:cNvPr id="4" name="Text 2"/>
          <p:cNvSpPr txBox="1"/>
          <p:nvPr/>
        </p:nvSpPr>
        <p:spPr>
          <a:xfrm>
            <a:off x="548640" y="3429000"/>
            <a:ext cx="6035040" cy="1005840"/>
          </a:xfrm>
          <a:prstGeom prst="rect">
            <a:avLst/>
          </a:prstGeom>
          <a:noFill/>
          <a:ln/>
        </p:spPr>
        <p:txBody>
          <a:bodyPr wrap="square" lIns="0" tIns="0" rIns="0" bIns="0" rtlCol="0" anchor="t"/>
          <a:lstStyle/>
          <a:p>
            <a:pPr indent="0" marL="0">
              <a:lnSpc>
                <a:spcPct val="112000"/>
              </a:lnSpc>
              <a:buNone/>
            </a:pPr>
            <a:r>
              <a:rPr lang="en-US" sz="1400" dirty="0">
                <a:solidFill>
                  <a:srgbClr val="6B6962"/>
                </a:solidFill>
                <a:latin typeface="Calibri" pitchFamily="34" charset="0"/>
                <a:ea typeface="Calibri" pitchFamily="34" charset="-122"/>
                <a:cs typeface="Calibri" pitchFamily="34" charset="-120"/>
              </a:rPr>
              <a:t>Nine fictional M&amp;A data rooms, each with a hidden set of problems that is known to be findable. Pick one, point a tool at it, and mark the output against the answer key.</a:t>
            </a:r>
            <a:endParaRPr lang="en-US" sz="1400" dirty="0"/>
          </a:p>
        </p:txBody>
      </p:sp>
      <p:sp>
        <p:nvSpPr>
          <p:cNvPr id="5" name="Text 3"/>
          <p:cNvSpPr txBox="1"/>
          <p:nvPr/>
        </p:nvSpPr>
        <p:spPr>
          <a:xfrm>
            <a:off x="548640" y="4617720"/>
            <a:ext cx="5486400" cy="274320"/>
          </a:xfrm>
          <a:prstGeom prst="rect">
            <a:avLst/>
          </a:prstGeom>
          <a:noFill/>
          <a:ln/>
        </p:spPr>
        <p:txBody>
          <a:bodyPr wrap="square" lIns="0" tIns="0" rIns="0" bIns="0" rtlCol="0" anchor="t"/>
          <a:lstStyle/>
          <a:p>
            <a:pPr indent="0" marL="0">
              <a:lnSpc>
                <a:spcPct val="112000"/>
              </a:lnSpc>
              <a:buNone/>
            </a:pPr>
            <a:r>
              <a:rPr lang="en-US" sz="1000" dirty="0">
                <a:solidFill>
                  <a:srgbClr val="A8A39A"/>
                </a:solidFill>
                <a:latin typeface="Courier New" pitchFamily="34" charset="0"/>
                <a:ea typeface="Courier New" pitchFamily="34" charset="-122"/>
                <a:cs typeface="Courier New" pitchFamily="34" charset="-120"/>
              </a:rPr>
              <a:t>Greg Baker · gregnb.com · September 2026</a:t>
            </a:r>
            <a:endParaRPr lang="en-US" sz="1000" dirty="0"/>
          </a:p>
        </p:txBody>
      </p:sp>
      <p:sp>
        <p:nvSpPr>
          <p:cNvPr id="6" name="Shape 4"/>
          <p:cNvSpPr/>
          <p:nvPr/>
        </p:nvSpPr>
        <p:spPr>
          <a:xfrm>
            <a:off x="8138160" y="1417320"/>
            <a:ext cx="3520440" cy="3566160"/>
          </a:xfrm>
          <a:prstGeom prst="roundRect">
            <a:avLst>
              <a:gd name="adj" fmla="val 2078"/>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7" name="Text 5"/>
          <p:cNvSpPr txBox="1"/>
          <p:nvPr/>
        </p:nvSpPr>
        <p:spPr>
          <a:xfrm>
            <a:off x="8412480" y="1673352"/>
            <a:ext cx="2971800" cy="228600"/>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ROOM CENSUS</a:t>
            </a:r>
            <a:endParaRPr lang="en-US" sz="800" dirty="0"/>
          </a:p>
        </p:txBody>
      </p:sp>
      <p:sp>
        <p:nvSpPr>
          <p:cNvPr id="8" name="Shape 6"/>
          <p:cNvSpPr/>
          <p:nvPr/>
        </p:nvSpPr>
        <p:spPr>
          <a:xfrm>
            <a:off x="8412480" y="2542032"/>
            <a:ext cx="2971800" cy="0"/>
          </a:xfrm>
          <a:prstGeom prst="line">
            <a:avLst/>
          </a:prstGeom>
          <a:noFill/>
          <a:ln w="9525">
            <a:solidFill>
              <a:srgbClr val="ECE9E1"/>
            </a:solidFill>
            <a:prstDash val="solid"/>
          </a:ln>
        </p:spPr>
      </p:sp>
      <p:sp>
        <p:nvSpPr>
          <p:cNvPr id="9" name="Text 7"/>
          <p:cNvSpPr txBox="1"/>
          <p:nvPr/>
        </p:nvSpPr>
        <p:spPr>
          <a:xfrm>
            <a:off x="8412480" y="2103120"/>
            <a:ext cx="2011680" cy="438912"/>
          </a:xfrm>
          <a:prstGeom prst="rect">
            <a:avLst/>
          </a:prstGeom>
          <a:noFill/>
          <a:ln/>
        </p:spPr>
        <p:txBody>
          <a:bodyPr wrap="square" lIns="0" tIns="0" rIns="0" bIns="0" rtlCol="0" anchor="ctr"/>
          <a:lstStyle/>
          <a:p>
            <a:pPr indent="0" marL="0">
              <a:buNone/>
            </a:pPr>
            <a:r>
              <a:rPr lang="en-US" sz="1200" dirty="0">
                <a:solidFill>
                  <a:srgbClr val="3A3833"/>
                </a:solidFill>
                <a:latin typeface="Calibri" pitchFamily="34" charset="0"/>
                <a:ea typeface="Calibri" pitchFamily="34" charset="-122"/>
                <a:cs typeface="Calibri" pitchFamily="34" charset="-120"/>
              </a:rPr>
              <a:t>Rooms</a:t>
            </a:r>
            <a:endParaRPr lang="en-US" sz="1200" dirty="0"/>
          </a:p>
        </p:txBody>
      </p:sp>
      <p:sp>
        <p:nvSpPr>
          <p:cNvPr id="10" name="Text 8"/>
          <p:cNvSpPr txBox="1"/>
          <p:nvPr/>
        </p:nvSpPr>
        <p:spPr>
          <a:xfrm>
            <a:off x="10287000" y="2103120"/>
            <a:ext cx="1097280" cy="438912"/>
          </a:xfrm>
          <a:prstGeom prst="rect">
            <a:avLst/>
          </a:prstGeom>
          <a:noFill/>
          <a:ln/>
        </p:spPr>
        <p:txBody>
          <a:bodyPr wrap="square" lIns="0" tIns="0" rIns="0" bIns="0" rtlCol="0" anchor="ctr"/>
          <a:lstStyle/>
          <a:p>
            <a:pPr algn="r" indent="0" marL="0">
              <a:buNone/>
            </a:pPr>
            <a:r>
              <a:rPr lang="en-US" sz="1600" b="1" dirty="0">
                <a:solidFill>
                  <a:srgbClr val="1A1A1A"/>
                </a:solidFill>
                <a:latin typeface="Cambria" pitchFamily="34" charset="0"/>
                <a:ea typeface="Cambria" pitchFamily="34" charset="-122"/>
                <a:cs typeface="Cambria" pitchFamily="34" charset="-120"/>
              </a:rPr>
              <a:t>9</a:t>
            </a:r>
            <a:endParaRPr lang="en-US" sz="1600" dirty="0"/>
          </a:p>
        </p:txBody>
      </p:sp>
      <p:sp>
        <p:nvSpPr>
          <p:cNvPr id="11" name="Shape 9"/>
          <p:cNvSpPr/>
          <p:nvPr/>
        </p:nvSpPr>
        <p:spPr>
          <a:xfrm>
            <a:off x="8412480" y="2999232"/>
            <a:ext cx="2971800" cy="0"/>
          </a:xfrm>
          <a:prstGeom prst="line">
            <a:avLst/>
          </a:prstGeom>
          <a:noFill/>
          <a:ln w="9525">
            <a:solidFill>
              <a:srgbClr val="ECE9E1"/>
            </a:solidFill>
            <a:prstDash val="solid"/>
          </a:ln>
        </p:spPr>
      </p:sp>
      <p:sp>
        <p:nvSpPr>
          <p:cNvPr id="12" name="Text 10"/>
          <p:cNvSpPr txBox="1"/>
          <p:nvPr/>
        </p:nvSpPr>
        <p:spPr>
          <a:xfrm>
            <a:off x="8412480" y="2560320"/>
            <a:ext cx="2011680" cy="438912"/>
          </a:xfrm>
          <a:prstGeom prst="rect">
            <a:avLst/>
          </a:prstGeom>
          <a:noFill/>
          <a:ln/>
        </p:spPr>
        <p:txBody>
          <a:bodyPr wrap="square" lIns="0" tIns="0" rIns="0" bIns="0" rtlCol="0" anchor="ctr"/>
          <a:lstStyle/>
          <a:p>
            <a:pPr indent="0" marL="0">
              <a:buNone/>
            </a:pPr>
            <a:r>
              <a:rPr lang="en-US" sz="1200" dirty="0">
                <a:solidFill>
                  <a:srgbClr val="3A3833"/>
                </a:solidFill>
                <a:latin typeface="Calibri" pitchFamily="34" charset="0"/>
                <a:ea typeface="Calibri" pitchFamily="34" charset="-122"/>
                <a:cs typeface="Calibri" pitchFamily="34" charset="-120"/>
              </a:rPr>
              <a:t>Documents</a:t>
            </a:r>
            <a:endParaRPr lang="en-US" sz="1200" dirty="0"/>
          </a:p>
        </p:txBody>
      </p:sp>
      <p:sp>
        <p:nvSpPr>
          <p:cNvPr id="13" name="Text 11"/>
          <p:cNvSpPr txBox="1"/>
          <p:nvPr/>
        </p:nvSpPr>
        <p:spPr>
          <a:xfrm>
            <a:off x="10287000" y="2560320"/>
            <a:ext cx="1097280" cy="438912"/>
          </a:xfrm>
          <a:prstGeom prst="rect">
            <a:avLst/>
          </a:prstGeom>
          <a:noFill/>
          <a:ln/>
        </p:spPr>
        <p:txBody>
          <a:bodyPr wrap="square" lIns="0" tIns="0" rIns="0" bIns="0" rtlCol="0" anchor="ctr"/>
          <a:lstStyle/>
          <a:p>
            <a:pPr algn="r" indent="0" marL="0">
              <a:buNone/>
            </a:pPr>
            <a:r>
              <a:rPr lang="en-US" sz="1600" b="1" dirty="0">
                <a:solidFill>
                  <a:srgbClr val="1A1A1A"/>
                </a:solidFill>
                <a:latin typeface="Cambria" pitchFamily="34" charset="0"/>
                <a:ea typeface="Cambria" pitchFamily="34" charset="-122"/>
                <a:cs typeface="Cambria" pitchFamily="34" charset="-120"/>
              </a:rPr>
              <a:t>12,134</a:t>
            </a:r>
            <a:endParaRPr lang="en-US" sz="1600" dirty="0"/>
          </a:p>
        </p:txBody>
      </p:sp>
      <p:sp>
        <p:nvSpPr>
          <p:cNvPr id="14" name="Shape 12"/>
          <p:cNvSpPr/>
          <p:nvPr/>
        </p:nvSpPr>
        <p:spPr>
          <a:xfrm>
            <a:off x="8412480" y="3456432"/>
            <a:ext cx="2971800" cy="0"/>
          </a:xfrm>
          <a:prstGeom prst="line">
            <a:avLst/>
          </a:prstGeom>
          <a:noFill/>
          <a:ln w="9525">
            <a:solidFill>
              <a:srgbClr val="ECE9E1"/>
            </a:solidFill>
            <a:prstDash val="solid"/>
          </a:ln>
        </p:spPr>
      </p:sp>
      <p:sp>
        <p:nvSpPr>
          <p:cNvPr id="15" name="Text 13"/>
          <p:cNvSpPr txBox="1"/>
          <p:nvPr/>
        </p:nvSpPr>
        <p:spPr>
          <a:xfrm>
            <a:off x="8412480" y="3017520"/>
            <a:ext cx="2011680" cy="438912"/>
          </a:xfrm>
          <a:prstGeom prst="rect">
            <a:avLst/>
          </a:prstGeom>
          <a:noFill/>
          <a:ln/>
        </p:spPr>
        <p:txBody>
          <a:bodyPr wrap="square" lIns="0" tIns="0" rIns="0" bIns="0" rtlCol="0" anchor="ctr"/>
          <a:lstStyle/>
          <a:p>
            <a:pPr indent="0" marL="0">
              <a:buNone/>
            </a:pPr>
            <a:r>
              <a:rPr lang="en-US" sz="1200" dirty="0">
                <a:solidFill>
                  <a:srgbClr val="3A3833"/>
                </a:solidFill>
                <a:latin typeface="Calibri" pitchFamily="34" charset="0"/>
                <a:ea typeface="Calibri" pitchFamily="34" charset="-122"/>
                <a:cs typeface="Calibri" pitchFamily="34" charset="-120"/>
              </a:rPr>
              <a:t>Planted findings</a:t>
            </a:r>
            <a:endParaRPr lang="en-US" sz="1200" dirty="0"/>
          </a:p>
        </p:txBody>
      </p:sp>
      <p:sp>
        <p:nvSpPr>
          <p:cNvPr id="16" name="Text 14"/>
          <p:cNvSpPr txBox="1"/>
          <p:nvPr/>
        </p:nvSpPr>
        <p:spPr>
          <a:xfrm>
            <a:off x="10287000" y="3017520"/>
            <a:ext cx="1097280" cy="438912"/>
          </a:xfrm>
          <a:prstGeom prst="rect">
            <a:avLst/>
          </a:prstGeom>
          <a:noFill/>
          <a:ln/>
        </p:spPr>
        <p:txBody>
          <a:bodyPr wrap="square" lIns="0" tIns="0" rIns="0" bIns="0" rtlCol="0" anchor="ctr"/>
          <a:lstStyle/>
          <a:p>
            <a:pPr algn="r" indent="0" marL="0">
              <a:buNone/>
            </a:pPr>
            <a:r>
              <a:rPr lang="en-US" sz="1600" b="1" dirty="0">
                <a:solidFill>
                  <a:srgbClr val="1A1A1A"/>
                </a:solidFill>
                <a:latin typeface="Cambria" pitchFamily="34" charset="0"/>
                <a:ea typeface="Cambria" pitchFamily="34" charset="-122"/>
                <a:cs typeface="Cambria" pitchFamily="34" charset="-120"/>
              </a:rPr>
              <a:t>572</a:t>
            </a:r>
            <a:endParaRPr lang="en-US" sz="1600" dirty="0"/>
          </a:p>
        </p:txBody>
      </p:sp>
      <p:sp>
        <p:nvSpPr>
          <p:cNvPr id="17" name="Shape 15"/>
          <p:cNvSpPr/>
          <p:nvPr/>
        </p:nvSpPr>
        <p:spPr>
          <a:xfrm>
            <a:off x="8412480" y="3913632"/>
            <a:ext cx="2971800" cy="0"/>
          </a:xfrm>
          <a:prstGeom prst="line">
            <a:avLst/>
          </a:prstGeom>
          <a:noFill/>
          <a:ln w="9525">
            <a:solidFill>
              <a:srgbClr val="ECE9E1"/>
            </a:solidFill>
            <a:prstDash val="solid"/>
          </a:ln>
        </p:spPr>
      </p:sp>
      <p:sp>
        <p:nvSpPr>
          <p:cNvPr id="18" name="Text 16"/>
          <p:cNvSpPr txBox="1"/>
          <p:nvPr/>
        </p:nvSpPr>
        <p:spPr>
          <a:xfrm>
            <a:off x="8412480" y="3474720"/>
            <a:ext cx="2011680" cy="438912"/>
          </a:xfrm>
          <a:prstGeom prst="rect">
            <a:avLst/>
          </a:prstGeom>
          <a:noFill/>
          <a:ln/>
        </p:spPr>
        <p:txBody>
          <a:bodyPr wrap="square" lIns="0" tIns="0" rIns="0" bIns="0" rtlCol="0" anchor="ctr"/>
          <a:lstStyle/>
          <a:p>
            <a:pPr indent="0" marL="0">
              <a:buNone/>
            </a:pPr>
            <a:r>
              <a:rPr lang="en-US" sz="1200" dirty="0">
                <a:solidFill>
                  <a:srgbClr val="3A3833"/>
                </a:solidFill>
                <a:latin typeface="Calibri" pitchFamily="34" charset="0"/>
                <a:ea typeface="Calibri" pitchFamily="34" charset="-122"/>
                <a:cs typeface="Calibri" pitchFamily="34" charset="-120"/>
              </a:rPr>
              <a:t>Red herrings</a:t>
            </a:r>
            <a:endParaRPr lang="en-US" sz="1200" dirty="0"/>
          </a:p>
        </p:txBody>
      </p:sp>
      <p:sp>
        <p:nvSpPr>
          <p:cNvPr id="19" name="Text 17"/>
          <p:cNvSpPr txBox="1"/>
          <p:nvPr/>
        </p:nvSpPr>
        <p:spPr>
          <a:xfrm>
            <a:off x="10287000" y="3474720"/>
            <a:ext cx="1097280" cy="438912"/>
          </a:xfrm>
          <a:prstGeom prst="rect">
            <a:avLst/>
          </a:prstGeom>
          <a:noFill/>
          <a:ln/>
        </p:spPr>
        <p:txBody>
          <a:bodyPr wrap="square" lIns="0" tIns="0" rIns="0" bIns="0" rtlCol="0" anchor="ctr"/>
          <a:lstStyle/>
          <a:p>
            <a:pPr algn="r" indent="0" marL="0">
              <a:buNone/>
            </a:pPr>
            <a:r>
              <a:rPr lang="en-US" sz="1600" b="1" dirty="0">
                <a:solidFill>
                  <a:srgbClr val="1A1A1A"/>
                </a:solidFill>
                <a:latin typeface="Cambria" pitchFamily="34" charset="0"/>
                <a:ea typeface="Cambria" pitchFamily="34" charset="-122"/>
                <a:cs typeface="Cambria" pitchFamily="34" charset="-120"/>
              </a:rPr>
              <a:t>146</a:t>
            </a:r>
            <a:endParaRPr lang="en-US" sz="1600" dirty="0"/>
          </a:p>
        </p:txBody>
      </p:sp>
      <p:sp>
        <p:nvSpPr>
          <p:cNvPr id="20" name="Shape 18"/>
          <p:cNvSpPr/>
          <p:nvPr/>
        </p:nvSpPr>
        <p:spPr>
          <a:xfrm>
            <a:off x="8412480" y="4370832"/>
            <a:ext cx="2971800" cy="0"/>
          </a:xfrm>
          <a:prstGeom prst="line">
            <a:avLst/>
          </a:prstGeom>
          <a:noFill/>
          <a:ln w="9525">
            <a:solidFill>
              <a:srgbClr val="ECE9E1"/>
            </a:solidFill>
            <a:prstDash val="solid"/>
          </a:ln>
        </p:spPr>
      </p:sp>
      <p:sp>
        <p:nvSpPr>
          <p:cNvPr id="21" name="Text 19"/>
          <p:cNvSpPr txBox="1"/>
          <p:nvPr/>
        </p:nvSpPr>
        <p:spPr>
          <a:xfrm>
            <a:off x="8412480" y="3931920"/>
            <a:ext cx="2011680" cy="438912"/>
          </a:xfrm>
          <a:prstGeom prst="rect">
            <a:avLst/>
          </a:prstGeom>
          <a:noFill/>
          <a:ln/>
        </p:spPr>
        <p:txBody>
          <a:bodyPr wrap="square" lIns="0" tIns="0" rIns="0" bIns="0" rtlCol="0" anchor="ctr"/>
          <a:lstStyle/>
          <a:p>
            <a:pPr indent="0" marL="0">
              <a:buNone/>
            </a:pPr>
            <a:r>
              <a:rPr lang="en-US" sz="1200" dirty="0">
                <a:solidFill>
                  <a:srgbClr val="3A3833"/>
                </a:solidFill>
                <a:latin typeface="Calibri" pitchFamily="34" charset="0"/>
                <a:ea typeface="Calibri" pitchFamily="34" charset="-122"/>
                <a:cs typeface="Calibri" pitchFamily="34" charset="-120"/>
              </a:rPr>
              <a:t>Real companies</a:t>
            </a:r>
            <a:endParaRPr lang="en-US" sz="1200" dirty="0"/>
          </a:p>
        </p:txBody>
      </p:sp>
      <p:sp>
        <p:nvSpPr>
          <p:cNvPr id="22" name="Text 20"/>
          <p:cNvSpPr txBox="1"/>
          <p:nvPr/>
        </p:nvSpPr>
        <p:spPr>
          <a:xfrm>
            <a:off x="10287000" y="3931920"/>
            <a:ext cx="1097280" cy="438912"/>
          </a:xfrm>
          <a:prstGeom prst="rect">
            <a:avLst/>
          </a:prstGeom>
          <a:noFill/>
          <a:ln/>
        </p:spPr>
        <p:txBody>
          <a:bodyPr wrap="square" lIns="0" tIns="0" rIns="0" bIns="0" rtlCol="0" anchor="ctr"/>
          <a:lstStyle/>
          <a:p>
            <a:pPr algn="r" indent="0" marL="0">
              <a:buNone/>
            </a:pPr>
            <a:r>
              <a:rPr lang="en-US" sz="1600" b="1" dirty="0">
                <a:solidFill>
                  <a:srgbClr val="1A1A1A"/>
                </a:solidFill>
                <a:latin typeface="Cambria" pitchFamily="34" charset="0"/>
                <a:ea typeface="Cambria" pitchFamily="34" charset="-122"/>
                <a:cs typeface="Cambria" pitchFamily="34" charset="-120"/>
              </a:rPr>
              <a:t>0</a:t>
            </a:r>
            <a:endParaRPr lang="en-US" sz="1600" dirty="0"/>
          </a:p>
        </p:txBody>
      </p:sp>
      <p:sp>
        <p:nvSpPr>
          <p:cNvPr id="23" name="Text 21"/>
          <p:cNvSpPr txBox="1"/>
          <p:nvPr/>
        </p:nvSpPr>
        <p:spPr>
          <a:xfrm>
            <a:off x="8412480" y="4526280"/>
            <a:ext cx="2971800" cy="228600"/>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All fictional · last audited 22 Sep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01 · THE PROJECT</a:t>
            </a:r>
            <a:endParaRPr lang="en-US" sz="900" dirty="0"/>
          </a:p>
        </p:txBody>
      </p:sp>
      <p:sp>
        <p:nvSpPr>
          <p:cNvPr id="3" name="Text 1"/>
          <p:cNvSpPr txBox="1"/>
          <p:nvPr/>
        </p:nvSpPr>
        <p:spPr>
          <a:xfrm>
            <a:off x="548640" y="731520"/>
            <a:ext cx="6400800" cy="64008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What gb_synth_vdr is</a:t>
            </a:r>
            <a:endParaRPr lang="en-US" sz="3000" dirty="0"/>
          </a:p>
        </p:txBody>
      </p:sp>
      <p:sp>
        <p:nvSpPr>
          <p:cNvPr id="4" name="Text 2"/>
          <p:cNvSpPr txBox="1"/>
          <p:nvPr/>
        </p:nvSpPr>
        <p:spPr>
          <a:xfrm>
            <a:off x="548640" y="1554480"/>
            <a:ext cx="5760720" cy="4206240"/>
          </a:xfrm>
          <a:prstGeom prst="rect">
            <a:avLst/>
          </a:prstGeom>
          <a:noFill/>
          <a:ln/>
        </p:spPr>
        <p:txBody>
          <a:bodyPr wrap="square" lIns="0" tIns="0" rIns="0" bIns="0" rtlCol="0" anchor="t"/>
          <a:lstStyle/>
          <a:p>
            <a:pPr indent="0" marL="0">
              <a:lnSpc>
                <a:spcPct val="112000"/>
              </a:lnSpc>
              <a:buNone/>
            </a:pPr>
            <a:r>
              <a:rPr lang="en-US" sz="1200" b="1" dirty="0">
                <a:solidFill>
                  <a:srgbClr val="1A1A1A"/>
                </a:solidFill>
                <a:latin typeface="Calibri" pitchFamily="34" charset="0"/>
                <a:ea typeface="Calibri" pitchFamily="34" charset="-122"/>
                <a:cs typeface="Calibri" pitchFamily="34" charset="-120"/>
              </a:rPr>
              <a:t>The problem. </a:t>
            </a:r>
            <a:pPr indent="0" marL="0">
              <a:lnSpc>
                <a:spcPct val="112000"/>
              </a:lnSpc>
              <a:buNone/>
            </a:pPr>
            <a:r>
              <a:rPr lang="en-US" sz="1200" dirty="0">
                <a:solidFill>
                  <a:srgbClr val="3A3833"/>
                </a:solidFill>
                <a:latin typeface="Calibri" pitchFamily="34" charset="0"/>
                <a:ea typeface="Calibri" pitchFamily="34" charset="-122"/>
                <a:cs typeface="Calibri" pitchFamily="34" charset="-120"/>
              </a:rPr>
              <a:t>To know how good a diligence tool really is you need a data room where you already know every answer. Real rooms are confidential. Made-up rooms usually fail the other way: whoever wrote the room declares the answers, and nobody checks that a reviewer working from the documents alone could have found them.
</a:t>
            </a:r>
            <a:pPr indent="0" marL="0">
              <a:lnSpc>
                <a:spcPct val="112000"/>
              </a:lnSpc>
              <a:buNone/>
            </a:pPr>
            <a:r>
              <a:rPr lang="en-US" sz="1200" b="1" dirty="0">
                <a:solidFill>
                  <a:srgbClr val="1A1A1A"/>
                </a:solidFill>
                <a:latin typeface="Calibri" pitchFamily="34" charset="0"/>
                <a:ea typeface="Calibri" pitchFamily="34" charset="-122"/>
                <a:cs typeface="Calibri" pitchFamily="34" charset="-120"/>
              </a:rPr>
              <a:t>The approach. </a:t>
            </a:r>
            <a:pPr indent="0" marL="0">
              <a:lnSpc>
                <a:spcPct val="112000"/>
              </a:lnSpc>
              <a:buNone/>
            </a:pPr>
            <a:r>
              <a:rPr lang="en-US" sz="1200" dirty="0">
                <a:solidFill>
                  <a:srgbClr val="3A3833"/>
                </a:solidFill>
                <a:latin typeface="Calibri" pitchFamily="34" charset="0"/>
                <a:ea typeface="Calibri" pitchFamily="34" charset="-122"/>
                <a:cs typeface="Calibri" pitchFamily="34" charset="-120"/>
              </a:rPr>
              <a:t>A Claude Code plugin that invents a complete deal, plants a fixed set of problems, writes the documents blind so nothing gives the game away, then sends a separate auditor into the room without telling it where anything is. A problem it cannot find does not count, and the room does not pass.
</a:t>
            </a:r>
            <a:pPr indent="0" marL="0">
              <a:lnSpc>
                <a:spcPct val="112000"/>
              </a:lnSpc>
              <a:buNone/>
            </a:pPr>
            <a:r>
              <a:rPr lang="en-US" sz="1200" b="1" dirty="0">
                <a:solidFill>
                  <a:srgbClr val="1A1A1A"/>
                </a:solidFill>
                <a:latin typeface="Calibri" pitchFamily="34" charset="0"/>
                <a:ea typeface="Calibri" pitchFamily="34" charset="-122"/>
                <a:cs typeface="Calibri" pitchFamily="34" charset="-120"/>
              </a:rPr>
              <a:t>The lineage. </a:t>
            </a:r>
            <a:pPr indent="0" marL="0">
              <a:lnSpc>
                <a:spcPct val="112000"/>
              </a:lnSpc>
              <a:buNone/>
            </a:pPr>
            <a:r>
              <a:rPr lang="en-US" sz="1200" dirty="0">
                <a:solidFill>
                  <a:srgbClr val="3A3833"/>
                </a:solidFill>
                <a:latin typeface="Calibri" pitchFamily="34" charset="0"/>
                <a:ea typeface="Calibri" pitchFamily="34" charset="-122"/>
                <a:cs typeface="Calibri" pitchFamily="34" charset="-120"/>
              </a:rPr>
              <a:t>Rooms 01 to 04 were hand-built over the summer. The plugin was distilled from them, then used to build rooms 05 to 09 end to end — 200 documents at first, then 800, then 2,000. It is MIT-licensed and public; the rooms are private because each one carries its own answer key.</a:t>
            </a:r>
            <a:endParaRPr lang="en-US" sz="1200" dirty="0"/>
          </a:p>
        </p:txBody>
      </p:sp>
      <p:sp>
        <p:nvSpPr>
          <p:cNvPr id="5" name="Text 3"/>
          <p:cNvSpPr txBox="1"/>
          <p:nvPr/>
        </p:nvSpPr>
        <p:spPr>
          <a:xfrm>
            <a:off x="6949440" y="777240"/>
            <a:ext cx="46936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SIX COMMANDS, RUN IN ORDER</a:t>
            </a:r>
            <a:endParaRPr lang="en-US" sz="800" dirty="0"/>
          </a:p>
        </p:txBody>
      </p:sp>
      <p:sp>
        <p:nvSpPr>
          <p:cNvPr id="6" name="Shape 4"/>
          <p:cNvSpPr/>
          <p:nvPr/>
        </p:nvSpPr>
        <p:spPr>
          <a:xfrm>
            <a:off x="6949440" y="1874520"/>
            <a:ext cx="4693615" cy="0"/>
          </a:xfrm>
          <a:prstGeom prst="line">
            <a:avLst/>
          </a:prstGeom>
          <a:noFill/>
          <a:ln w="9525">
            <a:solidFill>
              <a:srgbClr val="ECE9E1"/>
            </a:solidFill>
            <a:prstDash val="solid"/>
          </a:ln>
        </p:spPr>
      </p:sp>
      <p:sp>
        <p:nvSpPr>
          <p:cNvPr id="7" name="Text 5"/>
          <p:cNvSpPr txBox="1"/>
          <p:nvPr/>
        </p:nvSpPr>
        <p:spPr>
          <a:xfrm>
            <a:off x="6949440" y="1097280"/>
            <a:ext cx="45720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01</a:t>
            </a:r>
            <a:endParaRPr lang="en-US" sz="1100" dirty="0"/>
          </a:p>
        </p:txBody>
      </p:sp>
      <p:sp>
        <p:nvSpPr>
          <p:cNvPr id="8" name="Text 6"/>
          <p:cNvSpPr txBox="1"/>
          <p:nvPr/>
        </p:nvSpPr>
        <p:spPr>
          <a:xfrm>
            <a:off x="7406640" y="1097280"/>
            <a:ext cx="2011680" cy="274320"/>
          </a:xfrm>
          <a:prstGeom prst="rect">
            <a:avLst/>
          </a:prstGeom>
          <a:noFill/>
          <a:ln/>
        </p:spPr>
        <p:txBody>
          <a:bodyPr wrap="square" lIns="0" tIns="0" rIns="0" bIns="0" rtlCol="0" anchor="ctr"/>
          <a:lstStyle/>
          <a:p>
            <a:pPr indent="0" marL="0">
              <a:buNone/>
            </a:pPr>
            <a:r>
              <a:rPr lang="en-US" sz="1100" b="1" dirty="0">
                <a:solidFill>
                  <a:srgbClr val="155E75"/>
                </a:solidFill>
                <a:latin typeface="Courier New" pitchFamily="34" charset="0"/>
                <a:ea typeface="Courier New" pitchFamily="34" charset="-122"/>
                <a:cs typeface="Courier New" pitchFamily="34" charset="-120"/>
              </a:rPr>
              <a:t>/vdr-scope</a:t>
            </a:r>
            <a:endParaRPr lang="en-US" sz="1100" dirty="0"/>
          </a:p>
        </p:txBody>
      </p:sp>
      <p:sp>
        <p:nvSpPr>
          <p:cNvPr id="9" name="Text 7"/>
          <p:cNvSpPr txBox="1"/>
          <p:nvPr/>
        </p:nvSpPr>
        <p:spPr>
          <a:xfrm>
            <a:off x="7406640" y="1371600"/>
            <a:ext cx="4236415" cy="502920"/>
          </a:xfrm>
          <a:prstGeom prst="rect">
            <a:avLst/>
          </a:prstGeom>
          <a:noFill/>
          <a:ln/>
        </p:spPr>
        <p:txBody>
          <a:bodyPr wrap="square" lIns="0" tIns="0" rIns="0" bIns="0" rtlCol="0" anchor="t"/>
          <a:lstStyle/>
          <a:p>
            <a:pPr indent="0" marL="0">
              <a:lnSpc>
                <a:spcPct val="112000"/>
              </a:lnSpc>
              <a:buNone/>
            </a:pPr>
            <a:r>
              <a:rPr lang="en-US" sz="1000" dirty="0">
                <a:solidFill>
                  <a:srgbClr val="6B6962"/>
                </a:solidFill>
                <a:latin typeface="Calibri" pitchFamily="34" charset="0"/>
                <a:ea typeface="Calibri" pitchFamily="34" charset="-122"/>
                <a:cs typeface="Calibri" pitchFamily="34" charset="-120"/>
              </a:rPr>
              <a:t>Invents the deal, the people, the sites and the numbers. Web-checks every invented name against real businesses.</a:t>
            </a:r>
            <a:endParaRPr lang="en-US" sz="1000" dirty="0"/>
          </a:p>
        </p:txBody>
      </p:sp>
      <p:sp>
        <p:nvSpPr>
          <p:cNvPr id="10" name="Shape 8"/>
          <p:cNvSpPr/>
          <p:nvPr/>
        </p:nvSpPr>
        <p:spPr>
          <a:xfrm>
            <a:off x="6949440" y="2724912"/>
            <a:ext cx="4693615" cy="0"/>
          </a:xfrm>
          <a:prstGeom prst="line">
            <a:avLst/>
          </a:prstGeom>
          <a:noFill/>
          <a:ln w="9525">
            <a:solidFill>
              <a:srgbClr val="ECE9E1"/>
            </a:solidFill>
            <a:prstDash val="solid"/>
          </a:ln>
        </p:spPr>
      </p:sp>
      <p:sp>
        <p:nvSpPr>
          <p:cNvPr id="11" name="Text 9"/>
          <p:cNvSpPr txBox="1"/>
          <p:nvPr/>
        </p:nvSpPr>
        <p:spPr>
          <a:xfrm>
            <a:off x="6949440" y="1947672"/>
            <a:ext cx="45720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02</a:t>
            </a:r>
            <a:endParaRPr lang="en-US" sz="1100" dirty="0"/>
          </a:p>
        </p:txBody>
      </p:sp>
      <p:sp>
        <p:nvSpPr>
          <p:cNvPr id="12" name="Text 10"/>
          <p:cNvSpPr txBox="1"/>
          <p:nvPr/>
        </p:nvSpPr>
        <p:spPr>
          <a:xfrm>
            <a:off x="7406640" y="1947672"/>
            <a:ext cx="2011680" cy="274320"/>
          </a:xfrm>
          <a:prstGeom prst="rect">
            <a:avLst/>
          </a:prstGeom>
          <a:noFill/>
          <a:ln/>
        </p:spPr>
        <p:txBody>
          <a:bodyPr wrap="square" lIns="0" tIns="0" rIns="0" bIns="0" rtlCol="0" anchor="ctr"/>
          <a:lstStyle/>
          <a:p>
            <a:pPr indent="0" marL="0">
              <a:buNone/>
            </a:pPr>
            <a:r>
              <a:rPr lang="en-US" sz="1100" b="1" dirty="0">
                <a:solidFill>
                  <a:srgbClr val="155E75"/>
                </a:solidFill>
                <a:latin typeface="Courier New" pitchFamily="34" charset="0"/>
                <a:ea typeface="Courier New" pitchFamily="34" charset="-122"/>
                <a:cs typeface="Courier New" pitchFamily="34" charset="-120"/>
              </a:rPr>
              <a:t>/vdr-findings</a:t>
            </a:r>
            <a:endParaRPr lang="en-US" sz="1100" dirty="0"/>
          </a:p>
        </p:txBody>
      </p:sp>
      <p:sp>
        <p:nvSpPr>
          <p:cNvPr id="13" name="Text 11"/>
          <p:cNvSpPr txBox="1"/>
          <p:nvPr/>
        </p:nvSpPr>
        <p:spPr>
          <a:xfrm>
            <a:off x="7406640" y="2221992"/>
            <a:ext cx="4236415" cy="502920"/>
          </a:xfrm>
          <a:prstGeom prst="rect">
            <a:avLst/>
          </a:prstGeom>
          <a:noFill/>
          <a:ln/>
        </p:spPr>
        <p:txBody>
          <a:bodyPr wrap="square" lIns="0" tIns="0" rIns="0" bIns="0" rtlCol="0" anchor="t"/>
          <a:lstStyle/>
          <a:p>
            <a:pPr indent="0" marL="0">
              <a:lnSpc>
                <a:spcPct val="112000"/>
              </a:lnSpc>
              <a:buNone/>
            </a:pPr>
            <a:r>
              <a:rPr lang="en-US" sz="1000" dirty="0">
                <a:solidFill>
                  <a:srgbClr val="6B6962"/>
                </a:solidFill>
                <a:latin typeface="Calibri" pitchFamily="34" charset="0"/>
                <a:ea typeface="Calibri" pitchFamily="34" charset="-122"/>
                <a:cs typeface="Calibri" pitchFamily="34" charset="-120"/>
              </a:rPr>
              <a:t>Fixes the marking scheme before a word is written: each problem, its severity, its evidence documents, and the red herrings.</a:t>
            </a:r>
            <a:endParaRPr lang="en-US" sz="1000" dirty="0"/>
          </a:p>
        </p:txBody>
      </p:sp>
      <p:sp>
        <p:nvSpPr>
          <p:cNvPr id="14" name="Shape 12"/>
          <p:cNvSpPr/>
          <p:nvPr/>
        </p:nvSpPr>
        <p:spPr>
          <a:xfrm>
            <a:off x="6949440" y="3575304"/>
            <a:ext cx="4693615" cy="0"/>
          </a:xfrm>
          <a:prstGeom prst="line">
            <a:avLst/>
          </a:prstGeom>
          <a:noFill/>
          <a:ln w="9525">
            <a:solidFill>
              <a:srgbClr val="ECE9E1"/>
            </a:solidFill>
            <a:prstDash val="solid"/>
          </a:ln>
        </p:spPr>
      </p:sp>
      <p:sp>
        <p:nvSpPr>
          <p:cNvPr id="15" name="Text 13"/>
          <p:cNvSpPr txBox="1"/>
          <p:nvPr/>
        </p:nvSpPr>
        <p:spPr>
          <a:xfrm>
            <a:off x="6949440" y="2798064"/>
            <a:ext cx="45720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03</a:t>
            </a:r>
            <a:endParaRPr lang="en-US" sz="1100" dirty="0"/>
          </a:p>
        </p:txBody>
      </p:sp>
      <p:sp>
        <p:nvSpPr>
          <p:cNvPr id="16" name="Text 14"/>
          <p:cNvSpPr txBox="1"/>
          <p:nvPr/>
        </p:nvSpPr>
        <p:spPr>
          <a:xfrm>
            <a:off x="7406640" y="2798064"/>
            <a:ext cx="2011680" cy="274320"/>
          </a:xfrm>
          <a:prstGeom prst="rect">
            <a:avLst/>
          </a:prstGeom>
          <a:noFill/>
          <a:ln/>
        </p:spPr>
        <p:txBody>
          <a:bodyPr wrap="square" lIns="0" tIns="0" rIns="0" bIns="0" rtlCol="0" anchor="ctr"/>
          <a:lstStyle/>
          <a:p>
            <a:pPr indent="0" marL="0">
              <a:buNone/>
            </a:pPr>
            <a:r>
              <a:rPr lang="en-US" sz="1100" b="1" dirty="0">
                <a:solidFill>
                  <a:srgbClr val="155E75"/>
                </a:solidFill>
                <a:latin typeface="Courier New" pitchFamily="34" charset="0"/>
                <a:ea typeface="Courier New" pitchFamily="34" charset="-122"/>
                <a:cs typeface="Courier New" pitchFamily="34" charset="-120"/>
              </a:rPr>
              <a:t>/vdr-build</a:t>
            </a:r>
            <a:endParaRPr lang="en-US" sz="1100" dirty="0"/>
          </a:p>
        </p:txBody>
      </p:sp>
      <p:sp>
        <p:nvSpPr>
          <p:cNvPr id="17" name="Text 15"/>
          <p:cNvSpPr txBox="1"/>
          <p:nvPr/>
        </p:nvSpPr>
        <p:spPr>
          <a:xfrm>
            <a:off x="7406640" y="3072384"/>
            <a:ext cx="4236415" cy="502920"/>
          </a:xfrm>
          <a:prstGeom prst="rect">
            <a:avLst/>
          </a:prstGeom>
          <a:noFill/>
          <a:ln/>
        </p:spPr>
        <p:txBody>
          <a:bodyPr wrap="square" lIns="0" tIns="0" rIns="0" bIns="0" rtlCol="0" anchor="t"/>
          <a:lstStyle/>
          <a:p>
            <a:pPr indent="0" marL="0">
              <a:lnSpc>
                <a:spcPct val="112000"/>
              </a:lnSpc>
              <a:buNone/>
            </a:pPr>
            <a:r>
              <a:rPr lang="en-US" sz="1000" dirty="0">
                <a:solidFill>
                  <a:srgbClr val="6B6962"/>
                </a:solidFill>
                <a:latin typeface="Calibri" pitchFamily="34" charset="0"/>
                <a:ea typeface="Calibri" pitchFamily="34" charset="-122"/>
                <a:cs typeface="Calibri" pitchFamily="34" charset="-120"/>
              </a:rPr>
              <a:t>Writes the documents in waves of subagents, evidence-carrying documents first. Resumable.</a:t>
            </a:r>
            <a:endParaRPr lang="en-US" sz="1000" dirty="0"/>
          </a:p>
        </p:txBody>
      </p:sp>
      <p:sp>
        <p:nvSpPr>
          <p:cNvPr id="18" name="Shape 16"/>
          <p:cNvSpPr/>
          <p:nvPr/>
        </p:nvSpPr>
        <p:spPr>
          <a:xfrm>
            <a:off x="6949440" y="4425696"/>
            <a:ext cx="4693615" cy="0"/>
          </a:xfrm>
          <a:prstGeom prst="line">
            <a:avLst/>
          </a:prstGeom>
          <a:noFill/>
          <a:ln w="9525">
            <a:solidFill>
              <a:srgbClr val="ECE9E1"/>
            </a:solidFill>
            <a:prstDash val="solid"/>
          </a:ln>
        </p:spPr>
      </p:sp>
      <p:sp>
        <p:nvSpPr>
          <p:cNvPr id="19" name="Text 17"/>
          <p:cNvSpPr txBox="1"/>
          <p:nvPr/>
        </p:nvSpPr>
        <p:spPr>
          <a:xfrm>
            <a:off x="6949440" y="3648456"/>
            <a:ext cx="45720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04</a:t>
            </a:r>
            <a:endParaRPr lang="en-US" sz="1100" dirty="0"/>
          </a:p>
        </p:txBody>
      </p:sp>
      <p:sp>
        <p:nvSpPr>
          <p:cNvPr id="20" name="Text 18"/>
          <p:cNvSpPr txBox="1"/>
          <p:nvPr/>
        </p:nvSpPr>
        <p:spPr>
          <a:xfrm>
            <a:off x="7406640" y="3648456"/>
            <a:ext cx="2011680" cy="274320"/>
          </a:xfrm>
          <a:prstGeom prst="rect">
            <a:avLst/>
          </a:prstGeom>
          <a:noFill/>
          <a:ln/>
        </p:spPr>
        <p:txBody>
          <a:bodyPr wrap="square" lIns="0" tIns="0" rIns="0" bIns="0" rtlCol="0" anchor="ctr"/>
          <a:lstStyle/>
          <a:p>
            <a:pPr indent="0" marL="0">
              <a:buNone/>
            </a:pPr>
            <a:r>
              <a:rPr lang="en-US" sz="1100" b="1" dirty="0">
                <a:solidFill>
                  <a:srgbClr val="155E75"/>
                </a:solidFill>
                <a:latin typeface="Courier New" pitchFamily="34" charset="0"/>
                <a:ea typeface="Courier New" pitchFamily="34" charset="-122"/>
                <a:cs typeface="Courier New" pitchFamily="34" charset="-120"/>
              </a:rPr>
              <a:t>/vdr-qa</a:t>
            </a:r>
            <a:endParaRPr lang="en-US" sz="1100" dirty="0"/>
          </a:p>
        </p:txBody>
      </p:sp>
      <p:sp>
        <p:nvSpPr>
          <p:cNvPr id="21" name="Text 19"/>
          <p:cNvSpPr txBox="1"/>
          <p:nvPr/>
        </p:nvSpPr>
        <p:spPr>
          <a:xfrm>
            <a:off x="7406640" y="3922776"/>
            <a:ext cx="4236415" cy="502920"/>
          </a:xfrm>
          <a:prstGeom prst="rect">
            <a:avLst/>
          </a:prstGeom>
          <a:noFill/>
          <a:ln/>
        </p:spPr>
        <p:txBody>
          <a:bodyPr wrap="square" lIns="0" tIns="0" rIns="0" bIns="0" rtlCol="0" anchor="t"/>
          <a:lstStyle/>
          <a:p>
            <a:pPr indent="0" marL="0">
              <a:lnSpc>
                <a:spcPct val="112000"/>
              </a:lnSpc>
              <a:buNone/>
            </a:pPr>
            <a:r>
              <a:rPr lang="en-US" sz="1000" dirty="0">
                <a:solidFill>
                  <a:srgbClr val="6B6962"/>
                </a:solidFill>
                <a:latin typeface="Calibri" pitchFamily="34" charset="0"/>
                <a:ea typeface="Calibri" pitchFamily="34" charset="-122"/>
                <a:cs typeface="Calibri" pitchFamily="34" charset="-120"/>
              </a:rPr>
              <a:t>Nineteen automated checks: no answer leakage, no stubs, figures agree, every problem reachable blind.</a:t>
            </a:r>
            <a:endParaRPr lang="en-US" sz="1000" dirty="0"/>
          </a:p>
        </p:txBody>
      </p:sp>
      <p:sp>
        <p:nvSpPr>
          <p:cNvPr id="22" name="Shape 20"/>
          <p:cNvSpPr/>
          <p:nvPr/>
        </p:nvSpPr>
        <p:spPr>
          <a:xfrm>
            <a:off x="6949440" y="5276088"/>
            <a:ext cx="4693615" cy="0"/>
          </a:xfrm>
          <a:prstGeom prst="line">
            <a:avLst/>
          </a:prstGeom>
          <a:noFill/>
          <a:ln w="9525">
            <a:solidFill>
              <a:srgbClr val="ECE9E1"/>
            </a:solidFill>
            <a:prstDash val="solid"/>
          </a:ln>
        </p:spPr>
      </p:sp>
      <p:sp>
        <p:nvSpPr>
          <p:cNvPr id="23" name="Text 21"/>
          <p:cNvSpPr txBox="1"/>
          <p:nvPr/>
        </p:nvSpPr>
        <p:spPr>
          <a:xfrm>
            <a:off x="6949440" y="4498848"/>
            <a:ext cx="45720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05</a:t>
            </a:r>
            <a:endParaRPr lang="en-US" sz="1100" dirty="0"/>
          </a:p>
        </p:txBody>
      </p:sp>
      <p:sp>
        <p:nvSpPr>
          <p:cNvPr id="24" name="Text 22"/>
          <p:cNvSpPr txBox="1"/>
          <p:nvPr/>
        </p:nvSpPr>
        <p:spPr>
          <a:xfrm>
            <a:off x="7406640" y="4498848"/>
            <a:ext cx="2011680" cy="274320"/>
          </a:xfrm>
          <a:prstGeom prst="rect">
            <a:avLst/>
          </a:prstGeom>
          <a:noFill/>
          <a:ln/>
        </p:spPr>
        <p:txBody>
          <a:bodyPr wrap="square" lIns="0" tIns="0" rIns="0" bIns="0" rtlCol="0" anchor="ctr"/>
          <a:lstStyle/>
          <a:p>
            <a:pPr indent="0" marL="0">
              <a:buNone/>
            </a:pPr>
            <a:r>
              <a:rPr lang="en-US" sz="1100" b="1" dirty="0">
                <a:solidFill>
                  <a:srgbClr val="155E75"/>
                </a:solidFill>
                <a:latin typeface="Courier New" pitchFamily="34" charset="0"/>
                <a:ea typeface="Courier New" pitchFamily="34" charset="-122"/>
                <a:cs typeface="Courier New" pitchFamily="34" charset="-120"/>
              </a:rPr>
              <a:t>/vdr-package</a:t>
            </a:r>
            <a:endParaRPr lang="en-US" sz="1100" dirty="0"/>
          </a:p>
        </p:txBody>
      </p:sp>
      <p:sp>
        <p:nvSpPr>
          <p:cNvPr id="25" name="Text 23"/>
          <p:cNvSpPr txBox="1"/>
          <p:nvPr/>
        </p:nvSpPr>
        <p:spPr>
          <a:xfrm>
            <a:off x="7406640" y="4773168"/>
            <a:ext cx="4236415" cy="502920"/>
          </a:xfrm>
          <a:prstGeom prst="rect">
            <a:avLst/>
          </a:prstGeom>
          <a:noFill/>
          <a:ln/>
        </p:spPr>
        <p:txBody>
          <a:bodyPr wrap="square" lIns="0" tIns="0" rIns="0" bIns="0" rtlCol="0" anchor="t"/>
          <a:lstStyle/>
          <a:p>
            <a:pPr indent="0" marL="0">
              <a:lnSpc>
                <a:spcPct val="112000"/>
              </a:lnSpc>
              <a:buNone/>
            </a:pPr>
            <a:r>
              <a:rPr lang="en-US" sz="1000" dirty="0">
                <a:solidFill>
                  <a:srgbClr val="6B6962"/>
                </a:solidFill>
                <a:latin typeface="Calibri" pitchFamily="34" charset="0"/>
                <a:ea typeface="Calibri" pitchFamily="34" charset="-122"/>
                <a:cs typeface="Calibri" pitchFamily="34" charset="-120"/>
              </a:rPr>
              <a:t>Re-runs QA strictly, builds the sample subset, renders Word and PDF, and fingerprints the room.</a:t>
            </a:r>
            <a:endParaRPr lang="en-US" sz="1000" dirty="0"/>
          </a:p>
        </p:txBody>
      </p:sp>
      <p:sp>
        <p:nvSpPr>
          <p:cNvPr id="26" name="Shape 24"/>
          <p:cNvSpPr/>
          <p:nvPr/>
        </p:nvSpPr>
        <p:spPr>
          <a:xfrm>
            <a:off x="6949440" y="6126480"/>
            <a:ext cx="4693615" cy="0"/>
          </a:xfrm>
          <a:prstGeom prst="line">
            <a:avLst/>
          </a:prstGeom>
          <a:noFill/>
          <a:ln w="9525">
            <a:solidFill>
              <a:srgbClr val="ECE9E1"/>
            </a:solidFill>
            <a:prstDash val="solid"/>
          </a:ln>
        </p:spPr>
      </p:sp>
      <p:sp>
        <p:nvSpPr>
          <p:cNvPr id="27" name="Text 25"/>
          <p:cNvSpPr txBox="1"/>
          <p:nvPr/>
        </p:nvSpPr>
        <p:spPr>
          <a:xfrm>
            <a:off x="6949440" y="5349240"/>
            <a:ext cx="45720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06</a:t>
            </a:r>
            <a:endParaRPr lang="en-US" sz="1100" dirty="0"/>
          </a:p>
        </p:txBody>
      </p:sp>
      <p:sp>
        <p:nvSpPr>
          <p:cNvPr id="28" name="Text 26"/>
          <p:cNvSpPr txBox="1"/>
          <p:nvPr/>
        </p:nvSpPr>
        <p:spPr>
          <a:xfrm>
            <a:off x="7406640" y="5349240"/>
            <a:ext cx="2011680" cy="274320"/>
          </a:xfrm>
          <a:prstGeom prst="rect">
            <a:avLst/>
          </a:prstGeom>
          <a:noFill/>
          <a:ln/>
        </p:spPr>
        <p:txBody>
          <a:bodyPr wrap="square" lIns="0" tIns="0" rIns="0" bIns="0" rtlCol="0" anchor="ctr"/>
          <a:lstStyle/>
          <a:p>
            <a:pPr indent="0" marL="0">
              <a:buNone/>
            </a:pPr>
            <a:r>
              <a:rPr lang="en-US" sz="1100" b="1" dirty="0">
                <a:solidFill>
                  <a:srgbClr val="155E75"/>
                </a:solidFill>
                <a:latin typeface="Courier New" pitchFamily="34" charset="0"/>
                <a:ea typeface="Courier New" pitchFamily="34" charset="-122"/>
                <a:cs typeface="Courier New" pitchFamily="34" charset="-120"/>
              </a:rPr>
              <a:t>/vdr-score</a:t>
            </a:r>
            <a:endParaRPr lang="en-US" sz="1100" dirty="0"/>
          </a:p>
        </p:txBody>
      </p:sp>
      <p:sp>
        <p:nvSpPr>
          <p:cNvPr id="29" name="Text 27"/>
          <p:cNvSpPr txBox="1"/>
          <p:nvPr/>
        </p:nvSpPr>
        <p:spPr>
          <a:xfrm>
            <a:off x="7406640" y="5623560"/>
            <a:ext cx="4236415" cy="502920"/>
          </a:xfrm>
          <a:prstGeom prst="rect">
            <a:avLst/>
          </a:prstGeom>
          <a:noFill/>
          <a:ln/>
        </p:spPr>
        <p:txBody>
          <a:bodyPr wrap="square" lIns="0" tIns="0" rIns="0" bIns="0" rtlCol="0" anchor="t"/>
          <a:lstStyle/>
          <a:p>
            <a:pPr indent="0" marL="0">
              <a:lnSpc>
                <a:spcPct val="112000"/>
              </a:lnSpc>
              <a:buNone/>
            </a:pPr>
            <a:r>
              <a:rPr lang="en-US" sz="1000" dirty="0">
                <a:solidFill>
                  <a:srgbClr val="6B6962"/>
                </a:solidFill>
                <a:latin typeface="Calibri" pitchFamily="34" charset="0"/>
                <a:ea typeface="Calibri" pitchFamily="34" charset="-122"/>
                <a:cs typeface="Calibri" pitchFamily="34" charset="-120"/>
              </a:rPr>
              <a:t>Marks a tool's output: recall, precision, false alarms, and a diff against the last run. Also scores classifiers.</a:t>
            </a:r>
            <a:endParaRPr lang="en-US" sz="1000" dirty="0"/>
          </a:p>
        </p:txBody>
      </p:sp>
      <p:sp>
        <p:nvSpPr>
          <p:cNvPr id="30"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github.com/gblegal/gb_synth_vdr · MIT · v0.16.0</a:t>
            </a:r>
            <a:endParaRPr lang="en-US" sz="800" dirty="0"/>
          </a:p>
        </p:txBody>
      </p:sp>
      <p:sp>
        <p:nvSpPr>
          <p:cNvPr id="31"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02 · THE MENU</a:t>
            </a:r>
            <a:endParaRPr lang="en-US" sz="900" dirty="0"/>
          </a:p>
        </p:txBody>
      </p:sp>
      <p:sp>
        <p:nvSpPr>
          <p:cNvPr id="3" name="Text 1"/>
          <p:cNvSpPr txBox="1"/>
          <p:nvPr/>
        </p:nvSpPr>
        <p:spPr>
          <a:xfrm>
            <a:off x="548640" y="731520"/>
            <a:ext cx="7315200" cy="64008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Nine rooms at a glance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548640"/>
                <a:gridCol w="1463040"/>
                <a:gridCol w="2651760"/>
                <a:gridCol w="2834640"/>
                <a:gridCol w="731520"/>
                <a:gridCol w="822960"/>
                <a:gridCol w="2039112"/>
              </a:tblGrid>
              <a:tr h="274320">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ROOM</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CODENAME</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TARGET</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DEAL</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DOCS</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FINDINGS</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PICK IT FOR</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01</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Halcyon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Halcyon Group</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Connected-building IIoT</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Share sale of 100% to Kestrel Capital Partners. EV £250m to £350m.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1,000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53</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Format breadth; false-alarm rate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02</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Halcyon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Halcyon Group</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Same target as room 01</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Same share sale, locked box, headline EV c.£250m.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2,996</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136</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Realistic scale; multi-document trails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03</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Argent</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Argent Diagnostics Division of Calder Life Sciences plc</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Specialty in-vitro diagnostics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Carve-out: hive-down then sale of 100% to Meridian Diagnostics. EV £420m.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746</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64</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Carve-out perimeter; sell-side pack</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04</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Crucible</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Ashfell Advanced Materials</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Specialty industrial coatings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Two-round auction of 100% by Wrenfield Capital. EV £725m, locked box, W&amp;I.</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3,992</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93</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Largest room; buy- and sell-side exercises; scans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05</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Quern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Farrowmere Group</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Speciality food ingredients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PE buyout of 100% from the founding family by Kestrelbourne Capital.</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200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26</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Classifier tuning; corrupted twins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06</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Cairn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Helmswick Health Group</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UK private healthcare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Secondary buyout: Loxbourne Capital sells 100% to Tarrowgate Partners. EV £165m.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200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25</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Classifier generalisation check</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07</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Ellsgarth</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Corrandale Energy</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UK renewables platform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Sale of 80% by Ostreve N.V. to Marrowden Infrastructure; seller rolls 20%. EV £412m.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200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25</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Held-out benchmark; unseen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08</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Frithcombe</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Haskfold Foods Group</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UK chilled food manufacturing</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Family and growth-investor exit to Zwanenholt Foods N.V. EV £186m, locked box.</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800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60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Scale with scanned pages; measured OCR</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09</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Tarnwold</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Ferrowdale Aerospace</a:t>
                      </a:r>
                      <a:endParaRPr lang="en-US" sz="900" dirty="0">
                        <a:latin typeface="Calibri" charset="0"/>
                        <a:ea typeface="Calibri" charset="0"/>
                        <a:cs typeface="Calibri" charset="0"/>
                      </a:endParaRPr>
                    </a:p>
                    <a:p>
                      <a:pPr indent="0" marL="0">
                        <a:buNone/>
                      </a:pPr>
                      <a:r>
                        <a:rPr lang="en-US" sz="900" dirty="0">
                          <a:solidFill>
                            <a:srgbClr val="3A3833"/>
                          </a:solidFill>
                          <a:latin typeface="Calibri" pitchFamily="34" charset="0"/>
                          <a:ea typeface="Calibri" pitchFamily="34" charset="-122"/>
                          <a:cs typeface="Calibri" pitchFamily="34" charset="-120"/>
                        </a:rPr>
                        <a:t>Aerospace and defence components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Carve-out of Stanhollow plc's largest division to Skelmere Capital. EV £595m.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2,000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5E75"/>
                          </a:solidFill>
                          <a:latin typeface="Cambria" pitchFamily="34" charset="0"/>
                          <a:ea typeface="Cambria" pitchFamily="34" charset="-122"/>
                          <a:cs typeface="Cambria" pitchFamily="34" charset="-120"/>
                        </a:rPr>
                        <a:t>90</a:t>
                      </a:r>
                      <a:endParaRPr lang="en-US" sz="1200" dirty="0">
                        <a:latin typeface="Cambria" charset="0"/>
                        <a:ea typeface="Cambria" charset="0"/>
                        <a:cs typeface="Cambria"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Retrieval at 2,000 documents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Docs = documents in the canonical blind room. Findings = entries in the answer key. Bidder materials overleaf.</a:t>
            </a:r>
            <a:endParaRPr lang="en-US" sz="800" dirty="0"/>
          </a:p>
        </p:txBody>
      </p:sp>
      <p:sp>
        <p:nvSpPr>
          <p:cNvPr id="6" name="Text 3"/>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01 · LL_VDR_01 · HAND-BUILT · 28 MAY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Halcyon</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Halcyon Group Holdings Ltd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Connected-building IIoT: SaaS platform, control hardware and field services</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Share sale, 100% of Topco, to Kestrel Capital Partners. EV £250m to £350m.  FY25 revenue £184.6m · EBITDA £28.4m · ARR £44m</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Kestrel is buying the recurring SaaS base: the Halcyon Pulse platform with its fault-detection and demand-response IP. The vertically integrated stack of own-made devices, software layer and a national field-services arm is pitched as hard to replicate, sitting on a blue-chip utilities, real-estate and public-sector customer base with EU and US runway.</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first fully synthetic room. Built to test M&amp;A review tools on recall and precision across three output formats, with a deterministic Python generator so the room can be rebuilt byte-for-byte. The litigation folder carries no planted issues at all, so it doubles as a pure false-alarm trap.</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Format breadth and false-positive rate: three file types, a 50-document folder with nothing wrong in it, and cross-document links to chase.</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1,000</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53</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12</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2 critical · 21 high · 26 medium · 4 low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 CSV masters, rendered to 569 PDF, 345 DOCX and 86 XLSX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52 cross-workstream links across 35 findings</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No scanned, corrupted or foreign-language documents</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Answer key sits in _masters/ next to the room, so point tools at data-room/ only</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github.com/gblegal/ll_vdr_01 · private · answer key in _masters/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02 · LL_VDR_02 · HAND-BUILT · FROZEN 25 AUG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Halcyon</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Halcyon Group Holdings Ltd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Same target as room 01, rebuilt at scale to LC's index structure</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Share sale, 100%, to Kestrel Capital Partners. Locked box at 31 Dec 2025, headline EV c.£250m.  FY25 revenue £184.6m · EBITDA £28.4m · net debt £24.3m</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Kestrel is buying for the IP first, the customer base second and the engineering team third. So the live questions are the assignment chain behind the Pulse platform, open-source hygiene, key-engineer retention and single-source supplier risk in the manufacturing arm.</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realistic-scale room. Hand and LLM authored against an externally supplied skeleton index, so the folder structure looks like a real seller's room. Built for practising and testing buy-side review by people or software, with a scored set of benign look-alikes to measure false alarms.</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Recall and precision at realistic scale: nearly 3,000 unsignposted documents, 136 scored issues and 38 red herrings, with a 500-document subset that keeps every issue for faster runs.</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2,996</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136</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38</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500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19</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Original 64: 10 high · 22 medium · 10 low-medium · 22 low, plus 72 later multi-document findings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 CSV, with a full PDF mirror. No DOCX or XLSX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Many findings only emerge by joining three or more documents</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Around 79 redacted documents and untranslated German, French, Dutch and Italian material</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A completed DD run (classifications, findings, RFI, risk register) is kept alongside for comparison</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github.com/gblegal/ll_vdr_02 · private · answer key in _masters/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03 · LL_VDR_03 · HAND-BUILT · 7 JUL 2026 (KEY UPDATED 25 AUG)</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Argent</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Argent Diagnostics Division of Calder Life Sciences plc</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Specialty in-vitro diagnostics, accredited clinical labs and a molecular assay pipeline</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Carve-out: hive-down to a newco, then sale of 100% to Meridian Diagnostics Group SE with Thornhill Equity as 30% co-investor. Headline EV £420m on completion accounts.  FY25 revenue £242.3m · adjusted EBITDA £58.9m · UK, Ireland, Germany, US</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A FTSE 250 pharma-services group is shedding non-core diagnostics. The European strategic buyer gets a growing, high-margin UK diagnostics and lab platform with NHS framework revenue. The whole risk story is the perimeter: shared sites, a group ERP, a group pension scheme, the parent's brand and contracts signed by the wrong entity.</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carve-out room. Built so reviewers and tools can be tested on issues that only exist because of separation: transitional services, stranded IP, section 75 debt and consent gates. Dual-use, with a sell-side marking pack (disclosure letter, Q&amp;A answers, vendor DD) alongside the buy-side key.</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Whether a tool can spot what the target uses but does not own. Perimeter, TSA and stranded-asset issues that only appear when several documents are read together.</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746</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64</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15</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19</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5 critical · 17 high · 38 medium · 4 low-medium; 35 multi-document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 CSV, PDF mirrors regenerable from tools/md2pdf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Dedicated Separation &amp; TSA section</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Five critical items: TSA term versus ERP migration path, patents held by the parent, s75 exit debt, NHS framework held by the retained entity, entity-level UKAS accreditation</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EU merger-control condition added August 2026</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github.com/gblegal/ll_vdr_03 · private · answer key in _masters/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04 · LL_VDR_04 · HAND-BUILT · FROZEN 24 AUG 2026 (V1.0-FROZEN)</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Crucible</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Ashfell Advanced Materials Holdings Ltd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Specialty industrial coatings, surface treatments and advanced resins for aerospace, energy and rail</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Two-round auction of 100% by sponsor Wrenfield Capital. EV £725m, locked box, stapled buy-side W&amp;I with a £1 seller cap. NSI, German FDI and US HSR conditions.  FY26 revenue £412.3m · adjusted EBITDA £68.2m · c.2,880 staff · 49% Japanese JV</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lead bidder is a US-listed strategic folding Ashfell into an existing coatings platform. Assignability, exclusivity of technology, customer retention and JV vetoes are the value drivers, and as a defence-adjacent UK group the export-control and compliance exposures matter more than their cash quantum.</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largest room, packaged as two exercises on one frozen dataset. Buy-side: red-flag report and RFI marked against the key. Sell-side: disclosure letter, Q&amp;A answering and vendor DD marked against model answers. Facilitator runsheets and marking schemes are included.</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Buy-side: cross-document red flags and red-herring resistance at scale. Sell-side: disclosure discipline and honest Q&amp;A answering without over- or under-disclosing.</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3,992</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93</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20</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900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19</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8 critical · 24 high · 37 medium · 24 low; 76 multi-document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 CSV in the repo; PDF trees (1.4 GB) on the GitHub release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30 image-only scanned PDFs that force OCR</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176 foreign-language documents: German 91, French 79, Japanese 7</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13 deliberate gaps in the room form the RFI marking key</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110 model Q&amp;A answers and a warranty map for the sell-side exercise</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github.com/gblegal/ll_vdr_04 · private · answer key in _masters/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05 · LL_VDR_05 · GENERATOR · 1 SEP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Quern</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Farrowmere Group Holdings Ltd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Speciality food ingredients: bakery blends and fruit preparations, Dutch distribution arm, 40% malting JV</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PE buyout of 100% from the founding family by Kestrelbourne Capital (Fund IV) after an auction. Locked box, buy-side W&amp;I at c.£17m.  FY25 revenue £86.4m · EBITDA £11.2m · 486 FTE · net debt £22.7m</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A founder-owned, branded B2B ingredients platform growing about 10% a year, with an EU route to market since Brexit and a captive malt supply. The buyer is paying for margin-stable product lines and a succession-driven exit; the tension is one customer at 18% of revenue and a DB scheme whose buyout cost is nearly three times the disclosed figure.</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first room built end-to-end by the synth-vdr generator, and the tuning room for the gb-docclass classifier. Every document carries a type and workstream label, so it scores classification as well as issue-spotting. Clean, lightly corrupted and heavily corrupted twins test robustness to messy filenames, OCR noise and misfiling.</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Document classification and OCR or filename robustness: a small, fully labelled room with light and heavy corrupted twins and a 100-document subset.</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200</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26</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20</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2 critical · 8 high · 9 medium · 7 low; every finding corroborated in a second document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with a DOCX twin of every document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Corrupted-light: 70 documents touched. Corrupted-heavy: 136 touched, including 12 truncated</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Classifier eval runs recorded: right team on c.92%, right document type on c.35%</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All 46 invented names cleared against the web and Companies House</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github.com/gblegal/ll_vdr_05 · private · answer key in _key/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06 · LL_VDR_06 · GENERATOR · 2 SEP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Cairn</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Helmswick Health Group Holdings Ltd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UK private healthcare: diagnostic imaging, day-case clinics and NHS-commissioned community health across 27 sites</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Secondary buyout: Loxbourne Capital (Fund III) and management sell 100% to Tarrowgate Partners out of a competitive auction. English-law SPA, headline EV £165m.  FY26 revenue £84.6m · adjusted EBITDA £13.8m · 1,418 FTE · 50:50 NHS diagnostics JV</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A diversified, resilient revenue base with no payor above 23%, NHS contracted income plus private medical insurance volumes and fast-growing self-pay. Two new imaging centres have yet to mature, a 2.1m-record patient portal underpins the self-pay plan and the NHS JV is the route into community diagnostic centres.</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independence check for gb-docclass: recognition rules tuned on Project Quern were run here unchanged to prove they generalise rather than memorise. The two critical findings are both change-of-control triggers, deliberately hidden in different workstreams. Now retired from tuning duty.</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Whether a classifier or DD agent generalises: a regulated-healthcare room whose critical items are change-of-control triggers in different workstreams, with eight shape-matched red herrings.</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200</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25</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20</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2 critical · 7 high · 9 medium · 7 low; 3 cross-linked trails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with a DOCX twin of every document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Clean, corrupted-light (70 touched) and corrupted-heavy (136 touched) versions, each with its own key</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Classifier right-pile rate: 92% clean, 90% light, 88% heavy; 95% with a Claude pass</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Name check caught a former-name register trap and a collision with room 04</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github.com/gblegal/ll_vdr_06 · private · answer key in _key/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07 · LL_VDR_07 · GENERATOR · 3 SEP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Ellsgarth</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Corrandale Energy Holdings Ltd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UK renewables platform: 366 MW of onshore wind, solar and battery storage across 17 entities, plus a development pipeline</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Sale of 80% by Amsterdam-listed Ostreve N.V. to Marrowden Infrastructure Partners; seller rolls 20% under an SHA with put and call from year three. EV £412m, consideration £138.7m, locked box.  Net debt £238.6m · equity value £173.4m · UK merger control and NSIA conditions</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An infrastructure fund buying a contracted, subsidy-backed renewables platform with in-house O&amp;M and consented build-out. The retained 20% keeps the seller aligned and keeps the related-party power purchase agreement with the seller's supply arm alive, which is exactly where the risk sits.</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unseen eval room for gb-docclass: nothing in the classifier may be tuned against it. Frozen with all 19 QA gates passed in strict mode and a signed 25-finding key. Seven of its ten red herrings are shape-matched benign twins of a real finding.</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A held-out benchmark: measuring classifier or retriever robustness to corruption, and false-alarm rate against seven benign twins, on a room no tool has seen.</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200</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25</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20</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2 critical · 7 high · 9 medium · 7 low; 23 multi-document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with a DOCX twin of every document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Clean, corrupted-light (70 touched) and corrupted-heavy (136 touched) versions, each with its own key</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Classifier right-pile rate: 90% clean, 89% light, 87% heavy</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45 invented names cleared; four rejected candidates recorded</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github.com/gblegal/ll_vdr_07 · private · answer key in _key/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11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04 · CHOOSING</a:t>
            </a:r>
            <a:endParaRPr lang="en-US" sz="900" dirty="0"/>
          </a:p>
        </p:txBody>
      </p:sp>
      <p:sp>
        <p:nvSpPr>
          <p:cNvPr id="3" name="Text 1"/>
          <p:cNvSpPr txBox="1"/>
          <p:nvPr/>
        </p:nvSpPr>
        <p:spPr>
          <a:xfrm>
            <a:off x="548640" y="731520"/>
            <a:ext cx="7315200" cy="64008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Which room to pick</a:t>
            </a:r>
            <a:endParaRPr lang="en-US" sz="3000" dirty="0"/>
          </a:p>
        </p:txBody>
      </p:sp>
      <p:sp>
        <p:nvSpPr>
          <p:cNvPr id="4" name="Shape 2"/>
          <p:cNvSpPr/>
          <p:nvPr/>
        </p:nvSpPr>
        <p:spPr>
          <a:xfrm>
            <a:off x="548640" y="1554480"/>
            <a:ext cx="3515258" cy="1783080"/>
          </a:xfrm>
          <a:prstGeom prst="roundRect">
            <a:avLst>
              <a:gd name="adj" fmla="val 4103"/>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5" name="Text 3"/>
          <p:cNvSpPr txBox="1"/>
          <p:nvPr/>
        </p:nvSpPr>
        <p:spPr>
          <a:xfrm>
            <a:off x="777240" y="1755648"/>
            <a:ext cx="54864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777240" y="2011680"/>
            <a:ext cx="3058058" cy="365760"/>
          </a:xfrm>
          <a:prstGeom prst="rect">
            <a:avLst/>
          </a:prstGeom>
          <a:noFill/>
          <a:ln/>
        </p:spPr>
        <p:txBody>
          <a:bodyPr wrap="square" lIns="0" tIns="0" rIns="0" bIns="0" rtlCol="0" anchor="t"/>
          <a:lstStyle/>
          <a:p>
            <a:pPr indent="0" marL="0">
              <a:buNone/>
            </a:pPr>
            <a:r>
              <a:rPr lang="en-US" sz="1500" dirty="0">
                <a:solidFill>
                  <a:srgbClr val="1A1A1A"/>
                </a:solidFill>
                <a:latin typeface="Cambria" pitchFamily="34" charset="0"/>
                <a:ea typeface="Cambria" pitchFamily="34" charset="-122"/>
                <a:cs typeface="Cambria" pitchFamily="34" charset="-120"/>
              </a:rPr>
              <a:t>A quick, fully labelled eval</a:t>
            </a:r>
            <a:endParaRPr lang="en-US" sz="1500" dirty="0"/>
          </a:p>
        </p:txBody>
      </p:sp>
      <p:sp>
        <p:nvSpPr>
          <p:cNvPr id="7" name="Text 5"/>
          <p:cNvSpPr txBox="1"/>
          <p:nvPr/>
        </p:nvSpPr>
        <p:spPr>
          <a:xfrm>
            <a:off x="777240" y="2395728"/>
            <a:ext cx="3058058" cy="201168"/>
          </a:xfrm>
          <a:prstGeom prst="rect">
            <a:avLst/>
          </a:prstGeom>
          <a:noFill/>
          <a:ln/>
        </p:spPr>
        <p:txBody>
          <a:bodyPr wrap="square" lIns="0" tIns="0" rIns="0" bIns="0" rtlCol="0" anchor="ctr"/>
          <a:lstStyle/>
          <a:p>
            <a:pPr indent="0" marL="0">
              <a:buNone/>
            </a:pPr>
            <a:r>
              <a:rPr lang="en-US" sz="850" spc="100" kern="0" dirty="0">
                <a:solidFill>
                  <a:srgbClr val="155E75"/>
                </a:solidFill>
                <a:latin typeface="Courier New" pitchFamily="34" charset="0"/>
                <a:ea typeface="Courier New" pitchFamily="34" charset="-122"/>
                <a:cs typeface="Courier New" pitchFamily="34" charset="-120"/>
              </a:rPr>
              <a:t>ROOMS 05, 06, 07</a:t>
            </a:r>
            <a:endParaRPr lang="en-US" sz="850" dirty="0"/>
          </a:p>
        </p:txBody>
      </p:sp>
      <p:sp>
        <p:nvSpPr>
          <p:cNvPr id="8" name="Text 6"/>
          <p:cNvSpPr txBox="1"/>
          <p:nvPr/>
        </p:nvSpPr>
        <p:spPr>
          <a:xfrm>
            <a:off x="777240" y="2633472"/>
            <a:ext cx="3058058" cy="640080"/>
          </a:xfrm>
          <a:prstGeom prst="rect">
            <a:avLst/>
          </a:prstGeom>
          <a:noFill/>
          <a:ln/>
        </p:spPr>
        <p:txBody>
          <a:bodyPr wrap="square" lIns="0" tIns="0" rIns="0" bIns="0" rtlCol="0" anchor="t"/>
          <a:lstStyle/>
          <a:p>
            <a:pPr indent="0" marL="0">
              <a:lnSpc>
                <a:spcPct val="112000"/>
              </a:lnSpc>
              <a:buNone/>
            </a:pPr>
            <a:r>
              <a:rPr lang="en-US" sz="950" dirty="0">
                <a:solidFill>
                  <a:srgbClr val="6B6962"/>
                </a:solidFill>
                <a:latin typeface="Calibri" pitchFamily="34" charset="0"/>
                <a:ea typeface="Calibri" pitchFamily="34" charset="-122"/>
                <a:cs typeface="Calibri" pitchFamily="34" charset="-120"/>
              </a:rPr>
              <a:t>200 documents, DOCX twins, a 100-document subset, and a type-and-workstream label on every file. Run in an afternoon.</a:t>
            </a:r>
            <a:endParaRPr lang="en-US" sz="950" dirty="0"/>
          </a:p>
        </p:txBody>
      </p:sp>
      <p:sp>
        <p:nvSpPr>
          <p:cNvPr id="9" name="Shape 7"/>
          <p:cNvSpPr/>
          <p:nvPr/>
        </p:nvSpPr>
        <p:spPr>
          <a:xfrm>
            <a:off x="4338218" y="1554480"/>
            <a:ext cx="3515258" cy="1783080"/>
          </a:xfrm>
          <a:prstGeom prst="roundRect">
            <a:avLst>
              <a:gd name="adj" fmla="val 4103"/>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0" name="Text 8"/>
          <p:cNvSpPr txBox="1"/>
          <p:nvPr/>
        </p:nvSpPr>
        <p:spPr>
          <a:xfrm>
            <a:off x="4566818" y="1755648"/>
            <a:ext cx="54864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02</a:t>
            </a:r>
            <a:endParaRPr lang="en-US" sz="1100" dirty="0"/>
          </a:p>
        </p:txBody>
      </p:sp>
      <p:sp>
        <p:nvSpPr>
          <p:cNvPr id="11" name="Text 9"/>
          <p:cNvSpPr txBox="1"/>
          <p:nvPr/>
        </p:nvSpPr>
        <p:spPr>
          <a:xfrm>
            <a:off x="4566818" y="2011680"/>
            <a:ext cx="3058058" cy="365760"/>
          </a:xfrm>
          <a:prstGeom prst="rect">
            <a:avLst/>
          </a:prstGeom>
          <a:noFill/>
          <a:ln/>
        </p:spPr>
        <p:txBody>
          <a:bodyPr wrap="square" lIns="0" tIns="0" rIns="0" bIns="0" rtlCol="0" anchor="t"/>
          <a:lstStyle/>
          <a:p>
            <a:pPr indent="0" marL="0">
              <a:buNone/>
            </a:pPr>
            <a:r>
              <a:rPr lang="en-US" sz="1500" dirty="0">
                <a:solidFill>
                  <a:srgbClr val="1A1A1A"/>
                </a:solidFill>
                <a:latin typeface="Cambria" pitchFamily="34" charset="0"/>
                <a:ea typeface="Cambria" pitchFamily="34" charset="-122"/>
                <a:cs typeface="Cambria" pitchFamily="34" charset="-120"/>
              </a:rPr>
              <a:t>Realistic scale</a:t>
            </a:r>
            <a:endParaRPr lang="en-US" sz="1500" dirty="0"/>
          </a:p>
        </p:txBody>
      </p:sp>
      <p:sp>
        <p:nvSpPr>
          <p:cNvPr id="12" name="Text 10"/>
          <p:cNvSpPr txBox="1"/>
          <p:nvPr/>
        </p:nvSpPr>
        <p:spPr>
          <a:xfrm>
            <a:off x="4566818" y="2395728"/>
            <a:ext cx="3058058" cy="201168"/>
          </a:xfrm>
          <a:prstGeom prst="rect">
            <a:avLst/>
          </a:prstGeom>
          <a:noFill/>
          <a:ln/>
        </p:spPr>
        <p:txBody>
          <a:bodyPr wrap="square" lIns="0" tIns="0" rIns="0" bIns="0" rtlCol="0" anchor="ctr"/>
          <a:lstStyle/>
          <a:p>
            <a:pPr indent="0" marL="0">
              <a:buNone/>
            </a:pPr>
            <a:r>
              <a:rPr lang="en-US" sz="850" spc="100" kern="0" dirty="0">
                <a:solidFill>
                  <a:srgbClr val="155E75"/>
                </a:solidFill>
                <a:latin typeface="Courier New" pitchFamily="34" charset="0"/>
                <a:ea typeface="Courier New" pitchFamily="34" charset="-122"/>
                <a:cs typeface="Courier New" pitchFamily="34" charset="-120"/>
              </a:rPr>
              <a:t>ROOMS 02, 04, 08, 09</a:t>
            </a:r>
            <a:endParaRPr lang="en-US" sz="850" dirty="0"/>
          </a:p>
        </p:txBody>
      </p:sp>
      <p:sp>
        <p:nvSpPr>
          <p:cNvPr id="13" name="Text 11"/>
          <p:cNvSpPr txBox="1"/>
          <p:nvPr/>
        </p:nvSpPr>
        <p:spPr>
          <a:xfrm>
            <a:off x="4566818" y="2633472"/>
            <a:ext cx="3058058" cy="640080"/>
          </a:xfrm>
          <a:prstGeom prst="rect">
            <a:avLst/>
          </a:prstGeom>
          <a:noFill/>
          <a:ln/>
        </p:spPr>
        <p:txBody>
          <a:bodyPr wrap="square" lIns="0" tIns="0" rIns="0" bIns="0" rtlCol="0" anchor="t"/>
          <a:lstStyle/>
          <a:p>
            <a:pPr indent="0" marL="0">
              <a:lnSpc>
                <a:spcPct val="112000"/>
              </a:lnSpc>
              <a:buNone/>
            </a:pPr>
            <a:r>
              <a:rPr lang="en-US" sz="950" dirty="0">
                <a:solidFill>
                  <a:srgbClr val="6B6962"/>
                </a:solidFill>
                <a:latin typeface="Calibri" pitchFamily="34" charset="0"/>
                <a:ea typeface="Calibri" pitchFamily="34" charset="-122"/>
                <a:cs typeface="Calibri" pitchFamily="34" charset="-120"/>
              </a:rPr>
              <a:t>Eight hundred to four thousand documents with the mess of a real seller's room: redactions, foreign-language material, draft-versus-executed pairs.</a:t>
            </a:r>
            <a:endParaRPr lang="en-US" sz="950" dirty="0"/>
          </a:p>
        </p:txBody>
      </p:sp>
      <p:sp>
        <p:nvSpPr>
          <p:cNvPr id="14" name="Shape 12"/>
          <p:cNvSpPr/>
          <p:nvPr/>
        </p:nvSpPr>
        <p:spPr>
          <a:xfrm>
            <a:off x="8127797" y="1554480"/>
            <a:ext cx="3515258" cy="1783080"/>
          </a:xfrm>
          <a:prstGeom prst="roundRect">
            <a:avLst>
              <a:gd name="adj" fmla="val 4103"/>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8356397" y="1755648"/>
            <a:ext cx="54864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03</a:t>
            </a:r>
            <a:endParaRPr lang="en-US" sz="1100" dirty="0"/>
          </a:p>
        </p:txBody>
      </p:sp>
      <p:sp>
        <p:nvSpPr>
          <p:cNvPr id="16" name="Text 14"/>
          <p:cNvSpPr txBox="1"/>
          <p:nvPr/>
        </p:nvSpPr>
        <p:spPr>
          <a:xfrm>
            <a:off x="8356397" y="2011680"/>
            <a:ext cx="3058058" cy="365760"/>
          </a:xfrm>
          <a:prstGeom prst="rect">
            <a:avLst/>
          </a:prstGeom>
          <a:noFill/>
          <a:ln/>
        </p:spPr>
        <p:txBody>
          <a:bodyPr wrap="square" lIns="0" tIns="0" rIns="0" bIns="0" rtlCol="0" anchor="t"/>
          <a:lstStyle/>
          <a:p>
            <a:pPr indent="0" marL="0">
              <a:buNone/>
            </a:pPr>
            <a:r>
              <a:rPr lang="en-US" sz="1500" dirty="0">
                <a:solidFill>
                  <a:srgbClr val="1A1A1A"/>
                </a:solidFill>
                <a:latin typeface="Cambria" pitchFamily="34" charset="0"/>
                <a:ea typeface="Cambria" pitchFamily="34" charset="-122"/>
                <a:cs typeface="Cambria" pitchFamily="34" charset="-120"/>
              </a:rPr>
              <a:t>A carve-out</a:t>
            </a:r>
            <a:endParaRPr lang="en-US" sz="1500" dirty="0"/>
          </a:p>
        </p:txBody>
      </p:sp>
      <p:sp>
        <p:nvSpPr>
          <p:cNvPr id="17" name="Text 15"/>
          <p:cNvSpPr txBox="1"/>
          <p:nvPr/>
        </p:nvSpPr>
        <p:spPr>
          <a:xfrm>
            <a:off x="8356397" y="2395728"/>
            <a:ext cx="3058058" cy="201168"/>
          </a:xfrm>
          <a:prstGeom prst="rect">
            <a:avLst/>
          </a:prstGeom>
          <a:noFill/>
          <a:ln/>
        </p:spPr>
        <p:txBody>
          <a:bodyPr wrap="square" lIns="0" tIns="0" rIns="0" bIns="0" rtlCol="0" anchor="ctr"/>
          <a:lstStyle/>
          <a:p>
            <a:pPr indent="0" marL="0">
              <a:buNone/>
            </a:pPr>
            <a:r>
              <a:rPr lang="en-US" sz="850" spc="100" kern="0" dirty="0">
                <a:solidFill>
                  <a:srgbClr val="155E75"/>
                </a:solidFill>
                <a:latin typeface="Courier New" pitchFamily="34" charset="0"/>
                <a:ea typeface="Courier New" pitchFamily="34" charset="-122"/>
                <a:cs typeface="Courier New" pitchFamily="34" charset="-120"/>
              </a:rPr>
              <a:t>ROOMS 03, 09</a:t>
            </a:r>
            <a:endParaRPr lang="en-US" sz="850" dirty="0"/>
          </a:p>
        </p:txBody>
      </p:sp>
      <p:sp>
        <p:nvSpPr>
          <p:cNvPr id="18" name="Text 16"/>
          <p:cNvSpPr txBox="1"/>
          <p:nvPr/>
        </p:nvSpPr>
        <p:spPr>
          <a:xfrm>
            <a:off x="8356397" y="2633472"/>
            <a:ext cx="3058058" cy="640080"/>
          </a:xfrm>
          <a:prstGeom prst="rect">
            <a:avLst/>
          </a:prstGeom>
          <a:noFill/>
          <a:ln/>
        </p:spPr>
        <p:txBody>
          <a:bodyPr wrap="square" lIns="0" tIns="0" rIns="0" bIns="0" rtlCol="0" anchor="t"/>
          <a:lstStyle/>
          <a:p>
            <a:pPr indent="0" marL="0">
              <a:lnSpc>
                <a:spcPct val="112000"/>
              </a:lnSpc>
              <a:buNone/>
            </a:pPr>
            <a:r>
              <a:rPr lang="en-US" sz="950" dirty="0">
                <a:solidFill>
                  <a:srgbClr val="6B6962"/>
                </a:solidFill>
                <a:latin typeface="Calibri" pitchFamily="34" charset="0"/>
                <a:ea typeface="Calibri" pitchFamily="34" charset="-122"/>
                <a:cs typeface="Calibri" pitchFamily="34" charset="-120"/>
              </a:rPr>
              <a:t>Perimeter, TSA, stranded IP and pension issues that only exist because the business is being separated from a parent. 03 is a hive-down, 09 a listed group's division.</a:t>
            </a:r>
            <a:endParaRPr lang="en-US" sz="950" dirty="0"/>
          </a:p>
        </p:txBody>
      </p:sp>
      <p:sp>
        <p:nvSpPr>
          <p:cNvPr id="19" name="Shape 17"/>
          <p:cNvSpPr/>
          <p:nvPr/>
        </p:nvSpPr>
        <p:spPr>
          <a:xfrm>
            <a:off x="548640" y="3611880"/>
            <a:ext cx="3515258" cy="1783080"/>
          </a:xfrm>
          <a:prstGeom prst="roundRect">
            <a:avLst>
              <a:gd name="adj" fmla="val 4103"/>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0" name="Text 18"/>
          <p:cNvSpPr txBox="1"/>
          <p:nvPr/>
        </p:nvSpPr>
        <p:spPr>
          <a:xfrm>
            <a:off x="777240" y="3813048"/>
            <a:ext cx="54864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04</a:t>
            </a:r>
            <a:endParaRPr lang="en-US" sz="1100" dirty="0"/>
          </a:p>
        </p:txBody>
      </p:sp>
      <p:sp>
        <p:nvSpPr>
          <p:cNvPr id="21" name="Text 19"/>
          <p:cNvSpPr txBox="1"/>
          <p:nvPr/>
        </p:nvSpPr>
        <p:spPr>
          <a:xfrm>
            <a:off x="777240" y="4069080"/>
            <a:ext cx="3058058" cy="365760"/>
          </a:xfrm>
          <a:prstGeom prst="rect">
            <a:avLst/>
          </a:prstGeom>
          <a:noFill/>
          <a:ln/>
        </p:spPr>
        <p:txBody>
          <a:bodyPr wrap="square" lIns="0" tIns="0" rIns="0" bIns="0" rtlCol="0" anchor="t"/>
          <a:lstStyle/>
          <a:p>
            <a:pPr indent="0" marL="0">
              <a:buNone/>
            </a:pPr>
            <a:r>
              <a:rPr lang="en-US" sz="1500" dirty="0">
                <a:solidFill>
                  <a:srgbClr val="1A1A1A"/>
                </a:solidFill>
                <a:latin typeface="Cambria" pitchFamily="34" charset="0"/>
                <a:ea typeface="Cambria" pitchFamily="34" charset="-122"/>
                <a:cs typeface="Cambria" pitchFamily="34" charset="-120"/>
              </a:rPr>
              <a:t>Scanned and corrupted input</a:t>
            </a:r>
            <a:endParaRPr lang="en-US" sz="1500" dirty="0"/>
          </a:p>
        </p:txBody>
      </p:sp>
      <p:sp>
        <p:nvSpPr>
          <p:cNvPr id="22" name="Text 20"/>
          <p:cNvSpPr txBox="1"/>
          <p:nvPr/>
        </p:nvSpPr>
        <p:spPr>
          <a:xfrm>
            <a:off x="777240" y="4453128"/>
            <a:ext cx="3058058" cy="201168"/>
          </a:xfrm>
          <a:prstGeom prst="rect">
            <a:avLst/>
          </a:prstGeom>
          <a:noFill/>
          <a:ln/>
        </p:spPr>
        <p:txBody>
          <a:bodyPr wrap="square" lIns="0" tIns="0" rIns="0" bIns="0" rtlCol="0" anchor="ctr"/>
          <a:lstStyle/>
          <a:p>
            <a:pPr indent="0" marL="0">
              <a:buNone/>
            </a:pPr>
            <a:r>
              <a:rPr lang="en-US" sz="850" spc="100" kern="0" dirty="0">
                <a:solidFill>
                  <a:srgbClr val="155E75"/>
                </a:solidFill>
                <a:latin typeface="Courier New" pitchFamily="34" charset="0"/>
                <a:ea typeface="Courier New" pitchFamily="34" charset="-122"/>
                <a:cs typeface="Courier New" pitchFamily="34" charset="-120"/>
              </a:rPr>
              <a:t>ROOMS 04, 05, 06, 07, 08</a:t>
            </a:r>
            <a:endParaRPr lang="en-US" sz="850" dirty="0"/>
          </a:p>
        </p:txBody>
      </p:sp>
      <p:sp>
        <p:nvSpPr>
          <p:cNvPr id="23" name="Text 21"/>
          <p:cNvSpPr txBox="1"/>
          <p:nvPr/>
        </p:nvSpPr>
        <p:spPr>
          <a:xfrm>
            <a:off x="777240" y="4690872"/>
            <a:ext cx="3058058" cy="640080"/>
          </a:xfrm>
          <a:prstGeom prst="rect">
            <a:avLst/>
          </a:prstGeom>
          <a:noFill/>
          <a:ln/>
        </p:spPr>
        <p:txBody>
          <a:bodyPr wrap="square" lIns="0" tIns="0" rIns="0" bIns="0" rtlCol="0" anchor="t"/>
          <a:lstStyle/>
          <a:p>
            <a:pPr indent="0" marL="0">
              <a:lnSpc>
                <a:spcPct val="112000"/>
              </a:lnSpc>
              <a:buNone/>
            </a:pPr>
            <a:r>
              <a:rPr lang="en-US" sz="950" dirty="0">
                <a:solidFill>
                  <a:srgbClr val="6B6962"/>
                </a:solidFill>
                <a:latin typeface="Calibri" pitchFamily="34" charset="0"/>
                <a:ea typeface="Calibri" pitchFamily="34" charset="-122"/>
                <a:cs typeface="Calibri" pitchFamily="34" charset="-120"/>
              </a:rPr>
              <a:t>Image-only PDFs in 04 and 08, the latter with the OCR cost measured; renamed, misfiled, OCR-noised and truncated twins in 05 to 08.</a:t>
            </a:r>
            <a:endParaRPr lang="en-US" sz="950" dirty="0"/>
          </a:p>
        </p:txBody>
      </p:sp>
      <p:sp>
        <p:nvSpPr>
          <p:cNvPr id="24" name="Shape 22"/>
          <p:cNvSpPr/>
          <p:nvPr/>
        </p:nvSpPr>
        <p:spPr>
          <a:xfrm>
            <a:off x="4338218" y="3611880"/>
            <a:ext cx="3515258" cy="1783080"/>
          </a:xfrm>
          <a:prstGeom prst="roundRect">
            <a:avLst>
              <a:gd name="adj" fmla="val 4103"/>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5" name="Text 23"/>
          <p:cNvSpPr txBox="1"/>
          <p:nvPr/>
        </p:nvSpPr>
        <p:spPr>
          <a:xfrm>
            <a:off x="4566818" y="3813048"/>
            <a:ext cx="54864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05</a:t>
            </a:r>
            <a:endParaRPr lang="en-US" sz="1100" dirty="0"/>
          </a:p>
        </p:txBody>
      </p:sp>
      <p:sp>
        <p:nvSpPr>
          <p:cNvPr id="26" name="Text 24"/>
          <p:cNvSpPr txBox="1"/>
          <p:nvPr/>
        </p:nvSpPr>
        <p:spPr>
          <a:xfrm>
            <a:off x="4566818" y="4069080"/>
            <a:ext cx="3058058" cy="365760"/>
          </a:xfrm>
          <a:prstGeom prst="rect">
            <a:avLst/>
          </a:prstGeom>
          <a:noFill/>
          <a:ln/>
        </p:spPr>
        <p:txBody>
          <a:bodyPr wrap="square" lIns="0" tIns="0" rIns="0" bIns="0" rtlCol="0" anchor="t"/>
          <a:lstStyle/>
          <a:p>
            <a:pPr indent="0" marL="0">
              <a:buNone/>
            </a:pPr>
            <a:r>
              <a:rPr lang="en-US" sz="1500" dirty="0">
                <a:solidFill>
                  <a:srgbClr val="1A1A1A"/>
                </a:solidFill>
                <a:latin typeface="Cambria" pitchFamily="34" charset="0"/>
                <a:ea typeface="Cambria" pitchFamily="34" charset="-122"/>
                <a:cs typeface="Cambria" pitchFamily="34" charset="-120"/>
              </a:rPr>
              <a:t>Bidder materials</a:t>
            </a:r>
            <a:endParaRPr lang="en-US" sz="1500" dirty="0"/>
          </a:p>
        </p:txBody>
      </p:sp>
      <p:sp>
        <p:nvSpPr>
          <p:cNvPr id="27" name="Text 25"/>
          <p:cNvSpPr txBox="1"/>
          <p:nvPr/>
        </p:nvSpPr>
        <p:spPr>
          <a:xfrm>
            <a:off x="4566818" y="4453128"/>
            <a:ext cx="3058058" cy="201168"/>
          </a:xfrm>
          <a:prstGeom prst="rect">
            <a:avLst/>
          </a:prstGeom>
          <a:noFill/>
          <a:ln/>
        </p:spPr>
        <p:txBody>
          <a:bodyPr wrap="square" lIns="0" tIns="0" rIns="0" bIns="0" rtlCol="0" anchor="ctr"/>
          <a:lstStyle/>
          <a:p>
            <a:pPr indent="0" marL="0">
              <a:buNone/>
            </a:pPr>
            <a:r>
              <a:rPr lang="en-US" sz="850" spc="100" kern="0" dirty="0">
                <a:solidFill>
                  <a:srgbClr val="155E75"/>
                </a:solidFill>
                <a:latin typeface="Courier New" pitchFamily="34" charset="0"/>
                <a:ea typeface="Courier New" pitchFamily="34" charset="-122"/>
                <a:cs typeface="Courier New" pitchFamily="34" charset="-120"/>
              </a:rPr>
              <a:t>ROOMS 02, 03, 04</a:t>
            </a:r>
            <a:endParaRPr lang="en-US" sz="850" dirty="0"/>
          </a:p>
        </p:txBody>
      </p:sp>
      <p:sp>
        <p:nvSpPr>
          <p:cNvPr id="28" name="Text 26"/>
          <p:cNvSpPr txBox="1"/>
          <p:nvPr/>
        </p:nvSpPr>
        <p:spPr>
          <a:xfrm>
            <a:off x="4566818" y="4690872"/>
            <a:ext cx="3058058" cy="640080"/>
          </a:xfrm>
          <a:prstGeom prst="rect">
            <a:avLst/>
          </a:prstGeom>
          <a:noFill/>
          <a:ln/>
        </p:spPr>
        <p:txBody>
          <a:bodyPr wrap="square" lIns="0" tIns="0" rIns="0" bIns="0" rtlCol="0" anchor="t"/>
          <a:lstStyle/>
          <a:p>
            <a:pPr indent="0" marL="0">
              <a:lnSpc>
                <a:spcPct val="112000"/>
              </a:lnSpc>
              <a:buNone/>
            </a:pPr>
            <a:r>
              <a:rPr lang="en-US" sz="950" dirty="0">
                <a:solidFill>
                  <a:srgbClr val="6B6962"/>
                </a:solidFill>
                <a:latin typeface="Calibri" pitchFamily="34" charset="0"/>
                <a:ea typeface="Calibri" pitchFamily="34" charset="-122"/>
                <a:cs typeface="Calibri" pitchFamily="34" charset="-120"/>
              </a:rPr>
              <a:t>The only rooms with full legal, financial and commercial vendor DD. 05 to 09 carry a memorandum but no VDD. Q&amp;A marked against model answers in 03 and 04.</a:t>
            </a:r>
            <a:endParaRPr lang="en-US" sz="950" dirty="0"/>
          </a:p>
        </p:txBody>
      </p:sp>
      <p:sp>
        <p:nvSpPr>
          <p:cNvPr id="29" name="Shape 27"/>
          <p:cNvSpPr/>
          <p:nvPr/>
        </p:nvSpPr>
        <p:spPr>
          <a:xfrm>
            <a:off x="8127797" y="3611880"/>
            <a:ext cx="3515258" cy="1783080"/>
          </a:xfrm>
          <a:prstGeom prst="roundRect">
            <a:avLst>
              <a:gd name="adj" fmla="val 4103"/>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30" name="Text 28"/>
          <p:cNvSpPr txBox="1"/>
          <p:nvPr/>
        </p:nvSpPr>
        <p:spPr>
          <a:xfrm>
            <a:off x="8356397" y="3813048"/>
            <a:ext cx="548640" cy="274320"/>
          </a:xfrm>
          <a:prstGeom prst="rect">
            <a:avLst/>
          </a:prstGeom>
          <a:noFill/>
          <a:ln/>
        </p:spPr>
        <p:txBody>
          <a:bodyPr wrap="square" lIns="0" tIns="0" rIns="0" bIns="0" rtlCol="0" anchor="ctr"/>
          <a:lstStyle/>
          <a:p>
            <a:pPr indent="0" marL="0">
              <a:buNone/>
            </a:pPr>
            <a:r>
              <a:rPr lang="en-US" sz="1100" dirty="0">
                <a:solidFill>
                  <a:srgbClr val="D9D5CB"/>
                </a:solidFill>
                <a:latin typeface="Courier New" pitchFamily="34" charset="0"/>
                <a:ea typeface="Courier New" pitchFamily="34" charset="-122"/>
                <a:cs typeface="Courier New" pitchFamily="34" charset="-120"/>
              </a:rPr>
              <a:t>06</a:t>
            </a:r>
            <a:endParaRPr lang="en-US" sz="1100" dirty="0"/>
          </a:p>
        </p:txBody>
      </p:sp>
      <p:sp>
        <p:nvSpPr>
          <p:cNvPr id="31" name="Text 29"/>
          <p:cNvSpPr txBox="1"/>
          <p:nvPr/>
        </p:nvSpPr>
        <p:spPr>
          <a:xfrm>
            <a:off x="8356397" y="4069080"/>
            <a:ext cx="3058058" cy="365760"/>
          </a:xfrm>
          <a:prstGeom prst="rect">
            <a:avLst/>
          </a:prstGeom>
          <a:noFill/>
          <a:ln/>
        </p:spPr>
        <p:txBody>
          <a:bodyPr wrap="square" lIns="0" tIns="0" rIns="0" bIns="0" rtlCol="0" anchor="t"/>
          <a:lstStyle/>
          <a:p>
            <a:pPr indent="0" marL="0">
              <a:buNone/>
            </a:pPr>
            <a:r>
              <a:rPr lang="en-US" sz="1500" dirty="0">
                <a:solidFill>
                  <a:srgbClr val="1A1A1A"/>
                </a:solidFill>
                <a:latin typeface="Cambria" pitchFamily="34" charset="0"/>
                <a:ea typeface="Cambria" pitchFamily="34" charset="-122"/>
                <a:cs typeface="Cambria" pitchFamily="34" charset="-120"/>
              </a:rPr>
              <a:t>A held-out benchmark</a:t>
            </a:r>
            <a:endParaRPr lang="en-US" sz="1500" dirty="0"/>
          </a:p>
        </p:txBody>
      </p:sp>
      <p:sp>
        <p:nvSpPr>
          <p:cNvPr id="32" name="Text 30"/>
          <p:cNvSpPr txBox="1"/>
          <p:nvPr/>
        </p:nvSpPr>
        <p:spPr>
          <a:xfrm>
            <a:off x="8356397" y="4453128"/>
            <a:ext cx="3058058" cy="201168"/>
          </a:xfrm>
          <a:prstGeom prst="rect">
            <a:avLst/>
          </a:prstGeom>
          <a:noFill/>
          <a:ln/>
        </p:spPr>
        <p:txBody>
          <a:bodyPr wrap="square" lIns="0" tIns="0" rIns="0" bIns="0" rtlCol="0" anchor="ctr"/>
          <a:lstStyle/>
          <a:p>
            <a:pPr indent="0" marL="0">
              <a:buNone/>
            </a:pPr>
            <a:r>
              <a:rPr lang="en-US" sz="850" spc="100" kern="0" dirty="0">
                <a:solidFill>
                  <a:srgbClr val="155E75"/>
                </a:solidFill>
                <a:latin typeface="Courier New" pitchFamily="34" charset="0"/>
                <a:ea typeface="Courier New" pitchFamily="34" charset="-122"/>
                <a:cs typeface="Courier New" pitchFamily="34" charset="-120"/>
              </a:rPr>
              <a:t>ROOMS 07, 08, 09</a:t>
            </a:r>
            <a:endParaRPr lang="en-US" sz="850" dirty="0"/>
          </a:p>
        </p:txBody>
      </p:sp>
      <p:sp>
        <p:nvSpPr>
          <p:cNvPr id="33" name="Text 31"/>
          <p:cNvSpPr txBox="1"/>
          <p:nvPr/>
        </p:nvSpPr>
        <p:spPr>
          <a:xfrm>
            <a:off x="8356397" y="4690872"/>
            <a:ext cx="3058058" cy="640080"/>
          </a:xfrm>
          <a:prstGeom prst="rect">
            <a:avLst/>
          </a:prstGeom>
          <a:noFill/>
          <a:ln/>
        </p:spPr>
        <p:txBody>
          <a:bodyPr wrap="square" lIns="0" tIns="0" rIns="0" bIns="0" rtlCol="0" anchor="t"/>
          <a:lstStyle/>
          <a:p>
            <a:pPr indent="0" marL="0">
              <a:lnSpc>
                <a:spcPct val="112000"/>
              </a:lnSpc>
              <a:buNone/>
            </a:pPr>
            <a:r>
              <a:rPr lang="en-US" sz="950" dirty="0">
                <a:solidFill>
                  <a:srgbClr val="6B6962"/>
                </a:solidFill>
                <a:latin typeface="Calibri" pitchFamily="34" charset="0"/>
                <a:ea typeface="Calibri" pitchFamily="34" charset="-122"/>
                <a:cs typeface="Calibri" pitchFamily="34" charset="-120"/>
              </a:rPr>
              <a:t>Eval rooms, unseen by any tool and never ingested as teaching material. Nothing may be tuned against them.</a:t>
            </a:r>
            <a:endParaRPr lang="en-US" sz="950" dirty="0"/>
          </a:p>
        </p:txBody>
      </p:sp>
      <p:sp>
        <p:nvSpPr>
          <p:cNvPr id="34" name="Text 32"/>
          <p:cNvSpPr txBox="1"/>
          <p:nvPr/>
        </p:nvSpPr>
        <p:spPr>
          <a:xfrm>
            <a:off x="548640" y="5715000"/>
            <a:ext cx="11094415" cy="685800"/>
          </a:xfrm>
          <a:prstGeom prst="rect">
            <a:avLst/>
          </a:prstGeom>
          <a:noFill/>
          <a:ln/>
        </p:spPr>
        <p:txBody>
          <a:bodyPr wrap="square" lIns="0" tIns="0" rIns="0" bIns="0" rtlCol="0" anchor="t"/>
          <a:lstStyle/>
          <a:p>
            <a:pPr indent="0" marL="0">
              <a:lnSpc>
                <a:spcPct val="112000"/>
              </a:lnSpc>
              <a:buNone/>
            </a:pPr>
            <a:r>
              <a:rPr lang="en-US" sz="1000" b="1" dirty="0">
                <a:solidFill>
                  <a:srgbClr val="1A1A1A"/>
                </a:solidFill>
                <a:latin typeface="Calibri" pitchFamily="34" charset="0"/>
                <a:ea typeface="Calibri" pitchFamily="34" charset="-122"/>
                <a:cs typeface="Calibri" pitchFamily="34" charset="-120"/>
              </a:rPr>
              <a:t>Practicalities.  </a:t>
            </a:r>
            <a:pPr indent="0" marL="0">
              <a:lnSpc>
                <a:spcPct val="112000"/>
              </a:lnSpc>
              <a:buNone/>
            </a:pPr>
            <a:r>
              <a:rPr lang="en-US" sz="1000" dirty="0">
                <a:solidFill>
                  <a:srgbClr val="3A3833"/>
                </a:solidFill>
                <a:latin typeface="Calibri" pitchFamily="34" charset="0"/>
                <a:ea typeface="Calibri" pitchFamily="34" charset="-122"/>
                <a:cs typeface="Calibri" pitchFamily="34" charset="-120"/>
              </a:rPr>
              <a:t>Every room is a private repo under github.com/gblegal, with a local checkout at ~/Dev. The answer key lives inside the repo, so share only the blind tree with a tool or a testee. Every company, person, site and product name is invented and was checked against the web and Companies House. Nothing here is real client or deal data. Ask Greg for access.</a:t>
            </a:r>
            <a:endParaRPr lang="en-US" sz="1000" dirty="0"/>
          </a:p>
        </p:txBody>
      </p:sp>
      <p:sp>
        <p:nvSpPr>
          <p:cNvPr id="35" name="Text 33"/>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greg.baker@linklaters.com · gregnb.com</a:t>
            </a:r>
            <a:endParaRPr lang="en-US" sz="800" dirty="0"/>
          </a:p>
        </p:txBody>
      </p:sp>
      <p:sp>
        <p:nvSpPr>
          <p:cNvPr id="36" name="Text 34"/>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08 · LL_VDR_08 · GENERATOR · FROZEN 18 SEP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Frithcombe</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Haskfold Foods Group Limited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UK chilled food manufacturer: own-label ready meals, soups, dips and salads for the grocers, plus the Thistlecote brand</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Sale of 100% by the founding family, their growth investor and management to Amsterdam-listed Zwanenholt Foods N.V. EV £186m, locked box, £6m escrow for 18 months.  FY25 revenue £312.4m · EBITDA £24.9m · net debt £38.6m · 2,412 staff</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A Dutch strategic buying its way into UK grocery own-label. The value is the retailer relationships and the Wrexham soups plant. The tension is a supply framework whose change-of-control consent is a condition to completion, a tray joint venture carrying a call option at net asset value, and a 2025 allergen recall sitting behind a specific indemnity.</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first large generator room, at four times the size of rooms 05 to 07. Built to find out whether an answer key still holds when the corpus is big enough to hide things. Thirty-seven documents are image-only scans, so the OCR path is measured rather than assumed, and DOCX and PDF trees are rendered from the same blind markdown.</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Scale and the scanned-document path: 800 documents, 37 scans with a published OCR measurement, DOCX and PDF trees, and a 400-document subset that keeps every finding.</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800</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60</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18</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400</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20</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6 critical · 21 high · 22 medium · 11 low; 57 multi-document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with DOCX and PDF twins of every document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Clean, corrupted-light and corrupted-heavy versions at 800 documents each, every one with its own key</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Classifier right-team rate: 91% clean, 89% light, 85% heavy. OCR costs one document in 37 its pile</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15 of the 60 findings cite the information memorandum; 101 invented names cleared</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github.com/gblegal/ll_vdr_08 · private · answer key in _key/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11480"/>
            <a:ext cx="667512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ROOM 09 · LL_VDR_09 · GENERATOR · AUDITED 22 SEP 2026</a:t>
            </a:r>
            <a:endParaRPr lang="en-US" sz="900" dirty="0"/>
          </a:p>
        </p:txBody>
      </p:sp>
      <p:sp>
        <p:nvSpPr>
          <p:cNvPr id="3" name="Text 1"/>
          <p:cNvSpPr txBox="1"/>
          <p:nvPr/>
        </p:nvSpPr>
        <p:spPr>
          <a:xfrm>
            <a:off x="548640" y="658368"/>
            <a:ext cx="6675120" cy="54864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Project Tarnwold</a:t>
            </a:r>
            <a:endParaRPr lang="en-US" sz="3000" dirty="0"/>
          </a:p>
        </p:txBody>
      </p:sp>
      <p:sp>
        <p:nvSpPr>
          <p:cNvPr id="4" name="Text 2"/>
          <p:cNvSpPr txBox="1"/>
          <p:nvPr/>
        </p:nvSpPr>
        <p:spPr>
          <a:xfrm>
            <a:off x="548640" y="1234440"/>
            <a:ext cx="6675120" cy="457200"/>
          </a:xfrm>
          <a:prstGeom prst="rect">
            <a:avLst/>
          </a:prstGeom>
          <a:noFill/>
          <a:ln/>
        </p:spPr>
        <p:txBody>
          <a:bodyPr wrap="square" lIns="0" tIns="0" rIns="0" bIns="0" rtlCol="0" anchor="t"/>
          <a:lstStyle/>
          <a:p>
            <a:pPr indent="0" marL="0">
              <a:lnSpc>
                <a:spcPct val="112000"/>
              </a:lnSpc>
              <a:buNone/>
            </a:pPr>
            <a:r>
              <a:rPr lang="en-US" sz="1100" b="1" dirty="0">
                <a:solidFill>
                  <a:srgbClr val="1A1A1A"/>
                </a:solidFill>
                <a:latin typeface="Calibri" pitchFamily="34" charset="0"/>
                <a:ea typeface="Calibri" pitchFamily="34" charset="-122"/>
                <a:cs typeface="Calibri" pitchFamily="34" charset="-120"/>
              </a:rPr>
              <a:t>Ferrowdale Aerospace Holdings Limited</a:t>
            </a:r>
            <a:pPr indent="0" marL="0">
              <a:lnSpc>
                <a:spcPct val="112000"/>
              </a:lnSpc>
              <a:buNone/>
            </a:pPr>
            <a:r>
              <a:rPr lang="en-US" sz="1100" dirty="0">
                <a:solidFill>
                  <a:srgbClr val="6B6962"/>
                </a:solidFill>
                <a:latin typeface="Calibri" pitchFamily="34" charset="0"/>
                <a:ea typeface="Calibri" pitchFamily="34" charset="-122"/>
                <a:cs typeface="Calibri" pitchFamily="34" charset="-120"/>
              </a:rPr>
              <a:t>  ·  Aerospace and defence components: closed-die forgings, precision machining and hydraulic actuation across five sites in three countries</a:t>
            </a:r>
            <a:endParaRPr lang="en-US" sz="1100" dirty="0"/>
          </a:p>
        </p:txBody>
      </p:sp>
      <p:sp>
        <p:nvSpPr>
          <p:cNvPr id="5" name="Text 3"/>
          <p:cNvSpPr txBox="1"/>
          <p:nvPr/>
        </p:nvSpPr>
        <p:spPr>
          <a:xfrm>
            <a:off x="548640" y="178308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THE DEAL</a:t>
            </a:r>
            <a:endParaRPr lang="en-US" sz="800" dirty="0"/>
          </a:p>
        </p:txBody>
      </p:sp>
      <p:sp>
        <p:nvSpPr>
          <p:cNvPr id="6" name="Text 4"/>
          <p:cNvSpPr txBox="1"/>
          <p:nvPr/>
        </p:nvSpPr>
        <p:spPr>
          <a:xfrm>
            <a:off x="548640" y="1993392"/>
            <a:ext cx="6675120" cy="6858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Carve-out: Stanhollow Group plc sells its largest division to Skelmere Capital Partners. EV £595m at 11.0x, completion accounts, and a Class 1 disposal so Stanhollow's own shareholders must approve it.  FY26 revenue £392.6m · EBITDA £54.1m · 2,864 staff · £22.0m fixed pension deduction</a:t>
            </a:r>
            <a:endParaRPr lang="en-US" sz="1050" dirty="0"/>
          </a:p>
        </p:txBody>
      </p:sp>
      <p:sp>
        <p:nvSpPr>
          <p:cNvPr id="7" name="Text 5"/>
          <p:cNvSpPr txBox="1"/>
          <p:nvPr/>
        </p:nvSpPr>
        <p:spPr>
          <a:xfrm>
            <a:off x="548640" y="278892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DEAL THESIS</a:t>
            </a:r>
            <a:endParaRPr lang="en-US" sz="800" dirty="0"/>
          </a:p>
        </p:txBody>
      </p:sp>
      <p:sp>
        <p:nvSpPr>
          <p:cNvPr id="8" name="Text 6"/>
          <p:cNvSpPr txBox="1"/>
          <p:nvPr/>
        </p:nvSpPr>
        <p:spPr>
          <a:xfrm>
            <a:off x="548640" y="2999232"/>
            <a:ext cx="6675120" cy="91440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A mid-market sponsor buying a listed group's non-core division on a defence and aftermarket build-out story. Everything that matters is separation: a £118.4m intercompany balance settled at completion, a divisional share of the pension scheme, an export-control breach already voluntarily disclosed, and a Rotherham remediation behind a capped indemnity.</a:t>
            </a:r>
            <a:endParaRPr lang="en-US" sz="1050" dirty="0"/>
          </a:p>
        </p:txBody>
      </p:sp>
      <p:sp>
        <p:nvSpPr>
          <p:cNvPr id="9" name="Text 7"/>
          <p:cNvSpPr txBox="1"/>
          <p:nvPr/>
        </p:nvSpPr>
        <p:spPr>
          <a:xfrm>
            <a:off x="548640" y="4023360"/>
            <a:ext cx="6675120"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PURPOSE OF THE ROOM</a:t>
            </a:r>
            <a:endParaRPr lang="en-US" sz="800" dirty="0"/>
          </a:p>
        </p:txBody>
      </p:sp>
      <p:sp>
        <p:nvSpPr>
          <p:cNvPr id="10" name="Text 8"/>
          <p:cNvSpPr txBox="1"/>
          <p:nvPr/>
        </p:nvSpPr>
        <p:spPr>
          <a:xfrm>
            <a:off x="548640" y="4233672"/>
            <a:ext cx="6675120" cy="960120"/>
          </a:xfrm>
          <a:prstGeom prst="rect">
            <a:avLst/>
          </a:prstGeom>
          <a:noFill/>
          <a:ln/>
        </p:spPr>
        <p:txBody>
          <a:bodyPr wrap="square" lIns="0" tIns="0" rIns="0" bIns="0" rtlCol="0" anchor="t"/>
          <a:lstStyle/>
          <a:p>
            <a:pPr indent="0" marL="0">
              <a:lnSpc>
                <a:spcPct val="112000"/>
              </a:lnSpc>
              <a:buNone/>
            </a:pPr>
            <a:r>
              <a:rPr lang="en-US" sz="1050" dirty="0">
                <a:solidFill>
                  <a:srgbClr val="3A3833"/>
                </a:solidFill>
                <a:latin typeface="Calibri" pitchFamily="34" charset="0"/>
                <a:ea typeface="Calibri" pitchFamily="34" charset="-122"/>
                <a:cs typeface="Calibri" pitchFamily="34" charset="-120"/>
              </a:rPr>
              <a:t>The largest room in the estate and the first at 2,000 documents, built to find where the method breaks. Eight authoring waves, 90 findings and 187 evidence carriers, with the coherence audit run wave by wave rather than at the end. An eval room: nothing in any classifier may be tuned against it.</a:t>
            </a:r>
            <a:endParaRPr lang="en-US" sz="1050" dirty="0"/>
          </a:p>
        </p:txBody>
      </p:sp>
      <p:sp>
        <p:nvSpPr>
          <p:cNvPr id="11" name="Shape 9"/>
          <p:cNvSpPr/>
          <p:nvPr/>
        </p:nvSpPr>
        <p:spPr>
          <a:xfrm>
            <a:off x="548640" y="5303520"/>
            <a:ext cx="6675120" cy="960120"/>
          </a:xfrm>
          <a:prstGeom prst="roundRect">
            <a:avLst>
              <a:gd name="adj" fmla="val 7619"/>
            </a:avLst>
          </a:prstGeom>
          <a:solidFill>
            <a:srgbClr val="E8F2F5"/>
          </a:solidFill>
          <a:ln w="9525">
            <a:solidFill>
              <a:srgbClr val="9CC4D0"/>
            </a:solidFill>
            <a:prstDash val="solid"/>
          </a:ln>
        </p:spPr>
      </p:sp>
      <p:sp>
        <p:nvSpPr>
          <p:cNvPr id="12" name="Text 10"/>
          <p:cNvSpPr txBox="1"/>
          <p:nvPr/>
        </p:nvSpPr>
        <p:spPr>
          <a:xfrm>
            <a:off x="777240" y="5413248"/>
            <a:ext cx="6217920" cy="201168"/>
          </a:xfrm>
          <a:prstGeom prst="rect">
            <a:avLst/>
          </a:prstGeom>
          <a:noFill/>
          <a:ln/>
        </p:spPr>
        <p:txBody>
          <a:bodyPr wrap="square" lIns="0" tIns="0" rIns="0" bIns="0" rtlCol="0" anchor="ctr"/>
          <a:lstStyle/>
          <a:p>
            <a:pPr indent="0" marL="0">
              <a:buNone/>
            </a:pPr>
            <a:r>
              <a:rPr lang="en-US" sz="800" spc="150" kern="0" dirty="0">
                <a:solidFill>
                  <a:srgbClr val="155E75"/>
                </a:solidFill>
                <a:latin typeface="Courier New" pitchFamily="34" charset="0"/>
                <a:ea typeface="Courier New" pitchFamily="34" charset="-122"/>
                <a:cs typeface="Courier New" pitchFamily="34" charset="-120"/>
              </a:rPr>
              <a:t>GOOD FOR TESTING</a:t>
            </a:r>
            <a:endParaRPr lang="en-US" sz="800" dirty="0"/>
          </a:p>
        </p:txBody>
      </p:sp>
      <p:sp>
        <p:nvSpPr>
          <p:cNvPr id="13" name="Text 11"/>
          <p:cNvSpPr txBox="1"/>
          <p:nvPr/>
        </p:nvSpPr>
        <p:spPr>
          <a:xfrm>
            <a:off x="777240" y="5632704"/>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0E4A5E"/>
                </a:solidFill>
                <a:latin typeface="Calibri" pitchFamily="34" charset="0"/>
                <a:ea typeface="Calibri" pitchFamily="34" charset="-122"/>
                <a:cs typeface="Calibri" pitchFamily="34" charset="-120"/>
              </a:rPr>
              <a:t>Retrieval at 2,000 documents, where finding the right document is most of the work: 90 findings, 75 of which need two or more documents read together.</a:t>
            </a:r>
            <a:endParaRPr lang="en-US" sz="1050" dirty="0"/>
          </a:p>
        </p:txBody>
      </p:sp>
      <p:sp>
        <p:nvSpPr>
          <p:cNvPr id="14" name="Shape 12"/>
          <p:cNvSpPr/>
          <p:nvPr/>
        </p:nvSpPr>
        <p:spPr>
          <a:xfrm>
            <a:off x="7635240"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5" name="Text 13"/>
          <p:cNvSpPr txBox="1"/>
          <p:nvPr/>
        </p:nvSpPr>
        <p:spPr>
          <a:xfrm>
            <a:off x="7744968"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2,000</a:t>
            </a:r>
            <a:endParaRPr lang="en-US" sz="2200" dirty="0"/>
          </a:p>
        </p:txBody>
      </p:sp>
      <p:sp>
        <p:nvSpPr>
          <p:cNvPr id="16" name="Text 14"/>
          <p:cNvSpPr txBox="1"/>
          <p:nvPr/>
        </p:nvSpPr>
        <p:spPr>
          <a:xfrm>
            <a:off x="7744968"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a:t>
            </a:r>
            <a:endParaRPr lang="en-US" sz="750" dirty="0"/>
          </a:p>
        </p:txBody>
      </p:sp>
      <p:sp>
        <p:nvSpPr>
          <p:cNvPr id="17" name="Shape 15"/>
          <p:cNvSpPr/>
          <p:nvPr/>
        </p:nvSpPr>
        <p:spPr>
          <a:xfrm>
            <a:off x="8660054"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18" name="Text 16"/>
          <p:cNvSpPr txBox="1"/>
          <p:nvPr/>
        </p:nvSpPr>
        <p:spPr>
          <a:xfrm>
            <a:off x="8769782"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90</a:t>
            </a:r>
            <a:endParaRPr lang="en-US" sz="2200" dirty="0"/>
          </a:p>
        </p:txBody>
      </p:sp>
      <p:sp>
        <p:nvSpPr>
          <p:cNvPr id="19" name="Text 17"/>
          <p:cNvSpPr txBox="1"/>
          <p:nvPr/>
        </p:nvSpPr>
        <p:spPr>
          <a:xfrm>
            <a:off x="8769782"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PLANTED FINDINGS</a:t>
            </a:r>
            <a:endParaRPr lang="en-US" sz="750" dirty="0"/>
          </a:p>
        </p:txBody>
      </p:sp>
      <p:sp>
        <p:nvSpPr>
          <p:cNvPr id="20" name="Shape 18"/>
          <p:cNvSpPr/>
          <p:nvPr/>
        </p:nvSpPr>
        <p:spPr>
          <a:xfrm>
            <a:off x="9684868"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1" name="Text 19"/>
          <p:cNvSpPr txBox="1"/>
          <p:nvPr/>
        </p:nvSpPr>
        <p:spPr>
          <a:xfrm>
            <a:off x="9794596"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25</a:t>
            </a:r>
            <a:endParaRPr lang="en-US" sz="2200" dirty="0"/>
          </a:p>
        </p:txBody>
      </p:sp>
      <p:sp>
        <p:nvSpPr>
          <p:cNvPr id="22" name="Text 20"/>
          <p:cNvSpPr txBox="1"/>
          <p:nvPr/>
        </p:nvSpPr>
        <p:spPr>
          <a:xfrm>
            <a:off x="9794596"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RED HERRINGS</a:t>
            </a:r>
            <a:endParaRPr lang="en-US" sz="750" dirty="0"/>
          </a:p>
        </p:txBody>
      </p:sp>
      <p:sp>
        <p:nvSpPr>
          <p:cNvPr id="23" name="Shape 21"/>
          <p:cNvSpPr/>
          <p:nvPr/>
        </p:nvSpPr>
        <p:spPr>
          <a:xfrm>
            <a:off x="10709681" y="658368"/>
            <a:ext cx="933374" cy="841248"/>
          </a:xfrm>
          <a:prstGeom prst="roundRect">
            <a:avLst>
              <a:gd name="adj" fmla="val 8696"/>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4" name="Text 22"/>
          <p:cNvSpPr txBox="1"/>
          <p:nvPr/>
        </p:nvSpPr>
        <p:spPr>
          <a:xfrm>
            <a:off x="10819409" y="768096"/>
            <a:ext cx="713918" cy="384048"/>
          </a:xfrm>
          <a:prstGeom prst="rect">
            <a:avLst/>
          </a:prstGeom>
          <a:noFill/>
          <a:ln/>
        </p:spPr>
        <p:txBody>
          <a:bodyPr wrap="square" lIns="0" tIns="0" rIns="0" bIns="0" rtlCol="0" anchor="ctr"/>
          <a:lstStyle/>
          <a:p>
            <a:pPr indent="0" marL="0">
              <a:buNone/>
            </a:pPr>
            <a:r>
              <a:rPr lang="en-US" sz="2200" dirty="0">
                <a:solidFill>
                  <a:srgbClr val="155E75"/>
                </a:solidFill>
                <a:latin typeface="Cambria" pitchFamily="34" charset="0"/>
                <a:ea typeface="Cambria" pitchFamily="34" charset="-122"/>
                <a:cs typeface="Cambria" pitchFamily="34" charset="-120"/>
              </a:rPr>
              <a:t>—</a:t>
            </a:r>
            <a:endParaRPr lang="en-US" sz="2200" dirty="0"/>
          </a:p>
        </p:txBody>
      </p:sp>
      <p:sp>
        <p:nvSpPr>
          <p:cNvPr id="25" name="Text 23"/>
          <p:cNvSpPr txBox="1"/>
          <p:nvPr/>
        </p:nvSpPr>
        <p:spPr>
          <a:xfrm>
            <a:off x="10819409" y="1170432"/>
            <a:ext cx="713918" cy="274320"/>
          </a:xfrm>
          <a:prstGeom prst="rect">
            <a:avLst/>
          </a:prstGeom>
          <a:noFill/>
          <a:ln/>
        </p:spPr>
        <p:txBody>
          <a:bodyPr wrap="square" lIns="0" tIns="0" rIns="0" bIns="0" rtlCol="0" anchor="t"/>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SUBSET DOCS</a:t>
            </a:r>
            <a:endParaRPr lang="en-US" sz="750" dirty="0"/>
          </a:p>
        </p:txBody>
      </p:sp>
      <p:sp>
        <p:nvSpPr>
          <p:cNvPr id="26" name="Shape 24"/>
          <p:cNvSpPr/>
          <p:nvPr/>
        </p:nvSpPr>
        <p:spPr>
          <a:xfrm>
            <a:off x="7635240" y="1645920"/>
            <a:ext cx="4007815" cy="2331720"/>
          </a:xfrm>
          <a:prstGeom prst="roundRect">
            <a:avLst>
              <a:gd name="adj" fmla="val 3137"/>
            </a:avLst>
          </a:prstGeom>
          <a:solidFill>
            <a:srgbClr val="FFFFFF"/>
          </a:solidFill>
          <a:ln w="9525">
            <a:solidFill>
              <a:srgbClr val="ECE9E1"/>
            </a:solidFill>
            <a:prstDash val="solid"/>
          </a:ln>
          <a:effectLst>
            <a:outerShdw sx="100000" sy="100000" kx="0" ky="0" algn="bl" rotWithShape="0" blurRad="76200" dist="25400" dir="5400000">
              <a:srgbClr val="000000">
                <a:alpha val="6000"/>
              </a:srgbClr>
            </a:outerShdw>
          </a:effectLst>
        </p:spPr>
      </p:sp>
      <p:sp>
        <p:nvSpPr>
          <p:cNvPr id="27" name="Text 25"/>
          <p:cNvSpPr txBox="1"/>
          <p:nvPr/>
        </p:nvSpPr>
        <p:spPr>
          <a:xfrm>
            <a:off x="7818120" y="1755648"/>
            <a:ext cx="3642055" cy="201168"/>
          </a:xfrm>
          <a:prstGeom prst="rect">
            <a:avLst/>
          </a:prstGeom>
          <a:noFill/>
          <a:ln/>
        </p:spPr>
        <p:txBody>
          <a:bodyPr wrap="square" lIns="0" tIns="0" rIns="0" bIns="0" rtlCol="0" anchor="ctr"/>
          <a:lstStyle/>
          <a:p>
            <a:pPr indent="0" marL="0">
              <a:buNone/>
            </a:pPr>
            <a:r>
              <a:rPr lang="en-US" sz="750" spc="100" kern="0" dirty="0">
                <a:solidFill>
                  <a:srgbClr val="A8A39A"/>
                </a:solidFill>
                <a:latin typeface="Courier New" pitchFamily="34" charset="0"/>
                <a:ea typeface="Courier New" pitchFamily="34" charset="-122"/>
                <a:cs typeface="Courier New" pitchFamily="34" charset="-120"/>
              </a:rPr>
              <a:t>DOCUMENTS BY WORKSTREAM · TOP 8 OF 20</a:t>
            </a:r>
            <a:endParaRPr lang="en-US" sz="750" dirty="0"/>
          </a:p>
        </p:txBody>
      </p:sp>
      <p:graphicFrame>
        <p:nvGraphicFramePr>
          <p:cNvPr id="28" name="Chart 0" descr=""/>
          <p:cNvGraphicFramePr/>
          <p:nvPr/>
        </p:nvGraphicFramePr>
        <p:xfrm>
          <a:off x="7726680" y="1938528"/>
          <a:ext cx="3824935" cy="196596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7635240" y="4114800"/>
            <a:ext cx="4007815" cy="201168"/>
          </a:xfrm>
          <a:prstGeom prst="rect">
            <a:avLst/>
          </a:prstGeom>
          <a:noFill/>
          <a:ln/>
        </p:spPr>
        <p:txBody>
          <a:bodyPr wrap="square" lIns="0" tIns="0" rIns="0" bIns="0" rtlCol="0" anchor="ctr"/>
          <a:lstStyle/>
          <a:p>
            <a:pPr indent="0" marL="0">
              <a:buNone/>
            </a:pPr>
            <a:r>
              <a:rPr lang="en-US" sz="800" spc="150" kern="0" dirty="0">
                <a:solidFill>
                  <a:srgbClr val="A8A39A"/>
                </a:solidFill>
                <a:latin typeface="Courier New" pitchFamily="34" charset="0"/>
                <a:ea typeface="Courier New" pitchFamily="34" charset="-122"/>
                <a:cs typeface="Courier New" pitchFamily="34" charset="-120"/>
              </a:rPr>
              <a:t>DETAILS</a:t>
            </a:r>
            <a:endParaRPr lang="en-US" sz="800" dirty="0"/>
          </a:p>
        </p:txBody>
      </p:sp>
      <p:sp>
        <p:nvSpPr>
          <p:cNvPr id="30" name="Text 27"/>
          <p:cNvSpPr txBox="1"/>
          <p:nvPr/>
        </p:nvSpPr>
        <p:spPr>
          <a:xfrm>
            <a:off x="7635240" y="4325112"/>
            <a:ext cx="4007815" cy="1965960"/>
          </a:xfrm>
          <a:prstGeom prst="rect">
            <a:avLst/>
          </a:prstGeom>
          <a:noFill/>
          <a:ln/>
        </p:spPr>
        <p:txBody>
          <a:bodyPr wrap="square" lIns="0" tIns="0" rIns="0" bIns="0" rtlCol="0" anchor="t"/>
          <a:lstStyle/>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Severity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8 critical · 25 high · 33 medium · 24 low; 75 multi-document
</a:t>
            </a:r>
            <a:endParaRPr lang="en-US" sz="900" dirty="0"/>
          </a:p>
          <a:p>
            <a:pPr indent="0" marL="0">
              <a:lnSpc>
                <a:spcPct val="110000"/>
              </a:lnSpc>
              <a:spcAft>
                <a:spcPts val="300"/>
              </a:spcAft>
              <a:buNone/>
            </a:pPr>
            <a:r>
              <a:rPr lang="en-US" sz="900" b="1" dirty="0">
                <a:solidFill>
                  <a:srgbClr val="1A1A1A"/>
                </a:solidFill>
                <a:latin typeface="Calibri" pitchFamily="34" charset="0"/>
                <a:ea typeface="Calibri" pitchFamily="34" charset="-122"/>
                <a:cs typeface="Calibri" pitchFamily="34" charset="-120"/>
              </a:rPr>
              <a:t>Formats  </a:t>
            </a:r>
            <a:pPr indent="0" marL="0">
              <a:lnSpc>
                <a:spcPct val="110000"/>
              </a:lnSpc>
              <a:spcAft>
                <a:spcPts val="300"/>
              </a:spcAft>
              <a:buNone/>
            </a:pPr>
            <a:r>
              <a:rPr lang="en-US" sz="900" dirty="0">
                <a:solidFill>
                  <a:srgbClr val="3A3833"/>
                </a:solidFill>
                <a:latin typeface="Calibri" pitchFamily="34" charset="0"/>
                <a:ea typeface="Calibri" pitchFamily="34" charset="-122"/>
                <a:cs typeface="Calibri" pitchFamily="34" charset="-120"/>
              </a:rPr>
              <a:t>Markdown only; DOCX, PDF and the subset are built at package time
</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Built and audited on 22 Sep 2026, not yet packaged: 17 QA gates pass, 2 skip, and the eval answer key is outstanding</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2,000 classification labels and 3,795 canonical figures; 9 of the 90 findings cite the information memorandum</a:t>
            </a:r>
            <a:endParaRPr lang="en-US" sz="900" dirty="0"/>
          </a:p>
          <a:p>
            <a:pPr marL="127000" indent="-127000">
              <a:lnSpc>
                <a:spcPct val="110000"/>
              </a:lnSpc>
              <a:spcAft>
                <a:spcPts val="300"/>
              </a:spcAft>
              <a:buSzPct val="100000"/>
              <a:buChar char="•"/>
            </a:pPr>
            <a:r>
              <a:rPr lang="en-US" sz="900" dirty="0">
                <a:solidFill>
                  <a:srgbClr val="3A3833"/>
                </a:solidFill>
                <a:latin typeface="Calibri" pitchFamily="34" charset="0"/>
                <a:ea typeface="Calibri" pitchFamily="34" charset="-122"/>
                <a:cs typeface="Calibri" pitchFamily="34" charset="-120"/>
              </a:rPr>
              <a:t>120 invented names cleared against the web and Companies House</a:t>
            </a:r>
            <a:endParaRPr lang="en-US" sz="900" dirty="0"/>
          </a:p>
        </p:txBody>
      </p:sp>
      <p:sp>
        <p:nvSpPr>
          <p:cNvPr id="31" name="Text 28"/>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github.com/gblegal/ll_vdr_09 · private · answer key in _key/ · share the blind tree only</a:t>
            </a:r>
            <a:endParaRPr lang="en-US" sz="800" dirty="0"/>
          </a:p>
        </p:txBody>
      </p:sp>
      <p:sp>
        <p:nvSpPr>
          <p:cNvPr id="32" name="Text 29"/>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228600"/>
          </a:xfrm>
          <a:prstGeom prst="rect">
            <a:avLst/>
          </a:prstGeom>
          <a:noFill/>
          <a:ln/>
        </p:spPr>
        <p:txBody>
          <a:bodyPr wrap="square" lIns="0" tIns="0" rIns="0" bIns="0" rtlCol="0" anchor="ctr"/>
          <a:lstStyle/>
          <a:p>
            <a:pPr indent="0" marL="0">
              <a:buNone/>
            </a:pPr>
            <a:r>
              <a:rPr lang="en-US" sz="900" spc="150" kern="0" dirty="0">
                <a:solidFill>
                  <a:srgbClr val="155E75"/>
                </a:solidFill>
                <a:latin typeface="Courier New" pitchFamily="34" charset="0"/>
                <a:ea typeface="Courier New" pitchFamily="34" charset="-122"/>
                <a:cs typeface="Courier New" pitchFamily="34" charset="-120"/>
              </a:rPr>
              <a:t>03 · BIDDER MATERIALS</a:t>
            </a:r>
            <a:endParaRPr lang="en-US" sz="900" dirty="0"/>
          </a:p>
        </p:txBody>
      </p:sp>
      <p:sp>
        <p:nvSpPr>
          <p:cNvPr id="3" name="Text 1"/>
          <p:cNvSpPr txBox="1"/>
          <p:nvPr/>
        </p:nvSpPr>
        <p:spPr>
          <a:xfrm>
            <a:off x="548640" y="731520"/>
            <a:ext cx="7315200" cy="640080"/>
          </a:xfrm>
          <a:prstGeom prst="rect">
            <a:avLst/>
          </a:prstGeom>
          <a:noFill/>
          <a:ln/>
        </p:spPr>
        <p:txBody>
          <a:bodyPr wrap="square" lIns="0" tIns="0" rIns="0" bIns="0" rtlCol="0" anchor="t"/>
          <a:lstStyle/>
          <a:p>
            <a:pPr indent="0" marL="0">
              <a:lnSpc>
                <a:spcPct val="105000"/>
              </a:lnSpc>
              <a:buNone/>
            </a:pPr>
            <a:r>
              <a:rPr lang="en-US" sz="3000" dirty="0">
                <a:solidFill>
                  <a:srgbClr val="1A1A1A"/>
                </a:solidFill>
                <a:latin typeface="Cambria" pitchFamily="34" charset="0"/>
                <a:ea typeface="Cambria" pitchFamily="34" charset="-122"/>
                <a:cs typeface="Cambria" pitchFamily="34" charset="-120"/>
              </a:rPr>
              <a:t>What the seller gave the bidders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566928"/>
                <a:gridCol w="1536192"/>
                <a:gridCol w="1234440"/>
                <a:gridCol w="3063240"/>
                <a:gridCol w="2606040"/>
                <a:gridCol w="2084832"/>
              </a:tblGrid>
              <a:tr h="274320">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ROOM</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CODENAME</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INFO MEMO</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VENDOR DUE DILIGENCE</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MANAGEMENT PRESENTATION AND PROCESS PACK</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c>
                  <a:txBody>
                    <a:bodyPr/>
                    <a:lstStyle/>
                    <a:p>
                      <a:pPr indent="0" marL="0">
                        <a:buNone/>
                      </a:pPr>
                      <a:r>
                        <a:rPr lang="en-US" sz="800" b="1" dirty="0">
                          <a:solidFill>
                            <a:srgbClr val="A8A39A"/>
                          </a:solidFill>
                          <a:latin typeface="Courier New" pitchFamily="34" charset="0"/>
                          <a:ea typeface="Courier New" pitchFamily="34" charset="-122"/>
                          <a:cs typeface="Courier New" pitchFamily="34" charset="-120"/>
                        </a:rPr>
                        <a:t>WHERE IT SITS</a:t>
                      </a:r>
                      <a:endParaRPr lang="en-US" sz="800" dirty="0">
                        <a:latin typeface="Courier New" charset="0"/>
                        <a:ea typeface="Courier New" charset="0"/>
                        <a:cs typeface="Courier New" charset="0"/>
                      </a:endParaRPr>
                    </a:p>
                  </a:txBody>
                  <a:tcPr marL="76200" marR="76200" marT="50800" marB="508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5F3EE"/>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01</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Halcyon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A pensions VDD extract only, filed in the pensions folder</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02</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Halcyon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Legal, financial and tax, commercial — three full reports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Management presentation index and follow-ups; round-2 process letter</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Key tree only — withheld from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03</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Argent</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Legal, financial and tax, commercial — three full reports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 the disclosure letter and model Q&amp;A answers sit in the sell-side pack</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Key tree only — withheld from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04</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Crucible</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Legal, financial and tax, environmental, commercial — four full reports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Phase 1 and Phase 2 decks, six process letters, W&amp;I package, vendor fact book</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Key tree; the financial VDD also sits 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05</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Quern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 docs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 management presentations, 2 trading updates, 12 process documents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06</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Cairn</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 docs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 management presentations, 2 trading updates, 12 process documents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07</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Ellsgarth</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 docs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 management presentations, 2 trading updates, 12 process documents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08</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Frithcombe</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8 docs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8 management presentations, 8 trading updates, 48 process documents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A8A39A"/>
                          </a:solidFill>
                          <a:latin typeface="Courier New" pitchFamily="34" charset="0"/>
                          <a:ea typeface="Courier New" pitchFamily="34" charset="-122"/>
                          <a:cs typeface="Courier New" pitchFamily="34" charset="-120"/>
                        </a:rPr>
                        <a:t>09</a:t>
                      </a:r>
                      <a:endParaRPr lang="en-US" sz="950" dirty="0">
                        <a:latin typeface="Courier New" charset="0"/>
                        <a:ea typeface="Courier New" charset="0"/>
                        <a:cs typeface="Courier New"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Project Tarnwold</a:t>
                      </a:r>
                      <a:endParaRPr lang="en-US" sz="95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20 docs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20 management presentations, 20 trading updates, 120 process documents</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c>
                  <a:txBody>
                    <a:bodyPr/>
                    <a:lstStyle/>
                    <a:p>
                      <a:pPr indent="0" marL="0">
                        <a:buNone/>
                      </a:pPr>
                      <a:r>
                        <a:rPr lang="en-US" sz="900" dirty="0">
                          <a:solidFill>
                            <a:srgbClr val="3A3833"/>
                          </a:solidFill>
                          <a:latin typeface="Calibri" pitchFamily="34" charset="0"/>
                          <a:ea typeface="Calibri" pitchFamily="34" charset="-122"/>
                          <a:cs typeface="Calibri" pitchFamily="34" charset="-120"/>
                        </a:rPr>
                        <a:t>In the blind room</a:t>
                      </a:r>
                      <a:endParaRPr lang="en-US" sz="900" dirty="0">
                        <a:latin typeface="Calibri" charset="0"/>
                        <a:ea typeface="Calibri" charset="0"/>
                        <a:cs typeface="Calibri" charset="0"/>
                      </a:endParaRPr>
                    </a:p>
                  </a:txBody>
                  <a:tcPr marL="76200" marR="76200" marT="38100" marB="38100" anchor="ctr">
                    <a:lnL w="9525" cap="flat" cmpd="sng" algn="ctr">
                      <a:solidFill>
                        <a:srgbClr val="ECE9E1"/>
                      </a:solidFill>
                      <a:prstDash val="solid"/>
                      <a:round/>
                      <a:headEnd type="none" w="med" len="med"/>
                      <a:tailEnd type="none" w="med" len="med"/>
                    </a:lnL>
                    <a:lnR w="9525" cap="flat" cmpd="sng" algn="ctr">
                      <a:solidFill>
                        <a:srgbClr val="ECE9E1"/>
                      </a:solidFill>
                      <a:prstDash val="solid"/>
                      <a:round/>
                      <a:headEnd type="none" w="med" len="med"/>
                      <a:tailEnd type="none" w="med" len="med"/>
                    </a:lnR>
                    <a:lnT w="9525" cap="flat" cmpd="sng" algn="ctr">
                      <a:solidFill>
                        <a:srgbClr val="ECE9E1"/>
                      </a:solidFill>
                      <a:prstDash val="solid"/>
                      <a:round/>
                      <a:headEnd type="none" w="med" len="med"/>
                      <a:tailEnd type="none" w="med" len="med"/>
                    </a:lnT>
                    <a:lnB w="9525" cap="flat" cmpd="sng" algn="ctr">
                      <a:solidFill>
                        <a:srgbClr val="ECE9E1"/>
                      </a:solidFill>
                      <a:prstDash val="solid"/>
                      <a:round/>
                      <a:headEnd type="none" w="med" len="med"/>
                      <a:tailEnd type="none" w="med" len="med"/>
                    </a:lnB>
                    <a:solidFill>
                      <a:srgbClr val="FFFFFF"/>
                    </a:solidFill>
                  </a:tcPr>
                </a:tc>
              </a:tr>
            </a:tbl>
          </a:graphicData>
        </a:graphic>
      </p:graphicFrame>
      <p:sp>
        <p:nvSpPr>
          <p:cNvPr id="34" name="Text 32"/>
          <p:cNvSpPr txBox="1"/>
          <p:nvPr/>
        </p:nvSpPr>
        <p:spPr>
          <a:xfrm>
            <a:off x="548640" y="5760720"/>
            <a:ext cx="11091672" cy="384048"/>
          </a:xfrm>
          <a:prstGeom prst="rect">
            <a:avLst/>
          </a:prstGeom>
          <a:noFill/>
          <a:ln/>
        </p:spPr>
        <p:txBody>
          <a:bodyPr wrap="square" lIns="0" tIns="0" rIns="0" bIns="0" rtlCol="0" anchor="t"/>
          <a:lstStyle/>
          <a:p>
            <a:pPr indent="0" marL="0">
              <a:lnSpc>
                <a:spcPct val="112000"/>
              </a:lnSpc>
              <a:buNone/>
            </a:pPr>
            <a:r>
              <a:rPr lang="en-US" sz="1000" b="1" dirty="0">
                <a:solidFill>
                  <a:srgbClr val="1A1A1A"/>
                </a:solidFill>
                <a:latin typeface="Calibri" pitchFamily="34" charset="0"/>
                <a:ea typeface="Calibri" pitchFamily="34" charset="-122"/>
                <a:cs typeface="Calibri" pitchFamily="34" charset="-120"/>
              </a:rPr>
              <a:t>Where the pack sits.  </a:t>
            </a:r>
            <a:pPr indent="0" marL="0">
              <a:lnSpc>
                <a:spcPct val="112000"/>
              </a:lnSpc>
              <a:buNone/>
            </a:pPr>
            <a:r>
              <a:rPr lang="en-US" sz="1000" dirty="0">
                <a:solidFill>
                  <a:srgbClr val="3A3833"/>
                </a:solidFill>
                <a:latin typeface="Calibri" pitchFamily="34" charset="0"/>
                <a:ea typeface="Calibri" pitchFamily="34" charset="-122"/>
                <a:cs typeface="Calibri" pitchFamily="34" charset="-120"/>
              </a:rPr>
              <a:t>In rooms 02, 03 and 04 the sell-side bundle sits in the key tree, withheld from the blind room, so a tool under test never reads the seller's own account of the risks. In rooms 05 to 09 the memorandum sits inside the room and carries findings of its own: 15 of room 08's 60 cite it, and 9 of room 09's 90.</a:t>
            </a:r>
            <a:endParaRPr lang="en-US" sz="1000" dirty="0"/>
          </a:p>
        </p:txBody>
      </p:sp>
      <p:sp>
        <p:nvSpPr>
          <p:cNvPr id="5" name="Text 2"/>
          <p:cNvSpPr txBox="1"/>
          <p:nvPr/>
        </p:nvSpPr>
        <p:spPr>
          <a:xfrm>
            <a:off x="548640" y="6446520"/>
            <a:ext cx="8229600" cy="201168"/>
          </a:xfrm>
          <a:prstGeom prst="rect">
            <a:avLst/>
          </a:prstGeom>
          <a:noFill/>
          <a:ln/>
        </p:spPr>
        <p:txBody>
          <a:bodyPr wrap="square" lIns="0" tIns="0" rIns="0" bIns="0" rtlCol="0" anchor="ctr"/>
          <a:lstStyle/>
          <a:p>
            <a:pPr indent="0" marL="0">
              <a:buNone/>
            </a:pPr>
            <a:r>
              <a:rPr lang="en-US" sz="800" dirty="0">
                <a:solidFill>
                  <a:srgbClr val="A8A39A"/>
                </a:solidFill>
                <a:latin typeface="Courier New" pitchFamily="34" charset="0"/>
                <a:ea typeface="Courier New" pitchFamily="34" charset="-122"/>
                <a:cs typeface="Courier New" pitchFamily="34" charset="-120"/>
              </a:rPr>
              <a:t>CIM = the information memorandum. Vendor DD = reports addressed to bidders by the seller's advisers.</a:t>
            </a:r>
            <a:endParaRPr lang="en-US" sz="800" dirty="0"/>
          </a:p>
        </p:txBody>
      </p:sp>
      <p:sp>
        <p:nvSpPr>
          <p:cNvPr id="6" name="Text 3"/>
          <p:cNvSpPr txBox="1"/>
          <p:nvPr/>
        </p:nvSpPr>
        <p:spPr>
          <a:xfrm>
            <a:off x="10728655" y="6446520"/>
            <a:ext cx="914400" cy="201168"/>
          </a:xfrm>
          <a:prstGeom prst="rect">
            <a:avLst/>
          </a:prstGeom>
          <a:noFill/>
          <a:ln/>
        </p:spPr>
        <p:txBody>
          <a:bodyPr wrap="square" lIns="0" tIns="0" rIns="0" bIns="0" rtlCol="0" anchor="ctr"/>
          <a:lstStyle/>
          <a:p>
            <a:pPr algn="r" indent="0" marL="0">
              <a:buNone/>
            </a:pPr>
            <a:r>
              <a:rPr lang="en-US" sz="800" dirty="0">
                <a:solidFill>
                  <a:srgbClr val="D9D5CB"/>
                </a:solidFill>
                <a:latin typeface="Courier New" pitchFamily="34" charset="0"/>
                <a:ea typeface="Courier New" pitchFamily="34" charset="-122"/>
                <a:cs typeface="Courier New" pitchFamily="34" charset="-120"/>
              </a:rPr>
              <a:t>04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gregnb.com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data rooms</dc:title>
  <dc:subject>PptxGenJS Presentation</dc:subject>
  <dc:creator>Greg Baker</dc:creator>
  <cp:lastModifiedBy>Greg Baker</cp:lastModifiedBy>
  <cp:revision>1</cp:revision>
  <dcterms:created xsi:type="dcterms:W3CDTF">2026-09-08T15:44:37Z</dcterms:created>
  <dcterms:modified xsi:type="dcterms:W3CDTF">2026-09-08T15:44:37Z</dcterms:modified>
</cp:coreProperties>
</file>