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55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6962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Commercial</c:v>
                  </c:pt>
                  <c:pt idx="1">
                    <c:v>Employment</c:v>
                  </c:pt>
                  <c:pt idx="2">
                    <c:v>Finance &amp; tax</c:v>
                  </c:pt>
                  <c:pt idx="3">
                    <c:v>IP &amp; IT</c:v>
                  </c:pt>
                  <c:pt idx="4">
                    <c:v>Corporate</c:v>
                  </c:pt>
                  <c:pt idx="5">
                    <c:v>Real estate</c:v>
                  </c:pt>
                  <c:pt idx="6">
                    <c:v>Regulatory</c:v>
                  </c:pt>
                  <c:pt idx="7">
                    <c:v>Litigation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195</c:v>
                </c:pt>
                <c:pt idx="1">
                  <c:v>195</c:v>
                </c:pt>
                <c:pt idx="2">
                  <c:v>115</c:v>
                </c:pt>
                <c:pt idx="3">
                  <c:v>90</c:v>
                </c:pt>
                <c:pt idx="4">
                  <c:v>80</c:v>
                </c:pt>
                <c:pt idx="5">
                  <c:v>70</c:v>
                </c:pt>
                <c:pt idx="6">
                  <c:v>60</c:v>
                </c:pt>
                <c:pt idx="7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6962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3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55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6962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Commercial</c:v>
                  </c:pt>
                  <c:pt idx="1">
                    <c:v>Corporate</c:v>
                  </c:pt>
                  <c:pt idx="2">
                    <c:v>Employment</c:v>
                  </c:pt>
                  <c:pt idx="3">
                    <c:v>Financial</c:v>
                  </c:pt>
                  <c:pt idx="4">
                    <c:v>Real estate</c:v>
                  </c:pt>
                  <c:pt idx="5">
                    <c:v>IP</c:v>
                  </c:pt>
                  <c:pt idx="6">
                    <c:v>Regulatory</c:v>
                  </c:pt>
                  <c:pt idx="7">
                    <c:v>Tax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526</c:v>
                </c:pt>
                <c:pt idx="1">
                  <c:v>273</c:v>
                </c:pt>
                <c:pt idx="2">
                  <c:v>229</c:v>
                </c:pt>
                <c:pt idx="3">
                  <c:v>223</c:v>
                </c:pt>
                <c:pt idx="4">
                  <c:v>188</c:v>
                </c:pt>
                <c:pt idx="5">
                  <c:v>173</c:v>
                </c:pt>
                <c:pt idx="6">
                  <c:v>151</c:v>
                </c:pt>
                <c:pt idx="7">
                  <c:v>148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6962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3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8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55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6962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Commercial</c:v>
                  </c:pt>
                  <c:pt idx="1">
                    <c:v>Corporate</c:v>
                  </c:pt>
                  <c:pt idx="2">
                    <c:v>Financial</c:v>
                  </c:pt>
                  <c:pt idx="3">
                    <c:v>Employment</c:v>
                  </c:pt>
                  <c:pt idx="4">
                    <c:v>IP</c:v>
                  </c:pt>
                  <c:pt idx="5">
                    <c:v>Regulatory</c:v>
                  </c:pt>
                  <c:pt idx="6">
                    <c:v>Tax</c:v>
                  </c:pt>
                  <c:pt idx="7">
                    <c:v>Property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115</c:v>
                </c:pt>
                <c:pt idx="1">
                  <c:v>70</c:v>
                </c:pt>
                <c:pt idx="2">
                  <c:v>60</c:v>
                </c:pt>
                <c:pt idx="3">
                  <c:v>55</c:v>
                </c:pt>
                <c:pt idx="4">
                  <c:v>42</c:v>
                </c:pt>
                <c:pt idx="5">
                  <c:v>42</c:v>
                </c:pt>
                <c:pt idx="6">
                  <c:v>38</c:v>
                </c:pt>
                <c:pt idx="7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6962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3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55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6962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Commercial</c:v>
                  </c:pt>
                  <c:pt idx="1">
                    <c:v>Environmental &amp; HS</c:v>
                  </c:pt>
                  <c:pt idx="2">
                    <c:v>Employment</c:v>
                  </c:pt>
                  <c:pt idx="3">
                    <c:v>Corporate</c:v>
                  </c:pt>
                  <c:pt idx="4">
                    <c:v>Property</c:v>
                  </c:pt>
                  <c:pt idx="5">
                    <c:v>Regulatory &amp; trade</c:v>
                  </c:pt>
                  <c:pt idx="6">
                    <c:v>Operations</c:v>
                  </c:pt>
                  <c:pt idx="7">
                    <c:v>Financial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501</c:v>
                </c:pt>
                <c:pt idx="1">
                  <c:v>327</c:v>
                </c:pt>
                <c:pt idx="2">
                  <c:v>290</c:v>
                </c:pt>
                <c:pt idx="3">
                  <c:v>271</c:v>
                </c:pt>
                <c:pt idx="4">
                  <c:v>253</c:v>
                </c:pt>
                <c:pt idx="5">
                  <c:v>249</c:v>
                </c:pt>
                <c:pt idx="6">
                  <c:v>248</c:v>
                </c:pt>
                <c:pt idx="7">
                  <c:v>231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6962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3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55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6962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Commercial</c:v>
                  </c:pt>
                  <c:pt idx="1">
                    <c:v>Employment</c:v>
                  </c:pt>
                  <c:pt idx="2">
                    <c:v>Environmental &amp; HS</c:v>
                  </c:pt>
                  <c:pt idx="3">
                    <c:v>Corporate</c:v>
                  </c:pt>
                  <c:pt idx="4">
                    <c:v>Financial</c:v>
                  </c:pt>
                  <c:pt idx="5">
                    <c:v>Property</c:v>
                  </c:pt>
                  <c:pt idx="6">
                    <c:v>Regulatory &amp; trade</c:v>
                  </c:pt>
                  <c:pt idx="7">
                    <c:v>Transaction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</c:v>
                </c:pt>
                <c:pt idx="1">
                  <c:v>14</c:v>
                </c:pt>
                <c:pt idx="2">
                  <c:v>14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6962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3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55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6962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Commercial</c:v>
                  </c:pt>
                  <c:pt idx="1">
                    <c:v>Employment</c:v>
                  </c:pt>
                  <c:pt idx="2">
                    <c:v>Environmental &amp; HS</c:v>
                  </c:pt>
                  <c:pt idx="3">
                    <c:v>Corporate</c:v>
                  </c:pt>
                  <c:pt idx="4">
                    <c:v>Financial</c:v>
                  </c:pt>
                  <c:pt idx="5">
                    <c:v>Property</c:v>
                  </c:pt>
                  <c:pt idx="6">
                    <c:v>Regulatory &amp; trade</c:v>
                  </c:pt>
                  <c:pt idx="7">
                    <c:v>Transaction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</c:v>
                </c:pt>
                <c:pt idx="1">
                  <c:v>14</c:v>
                </c:pt>
                <c:pt idx="2">
                  <c:v>14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6962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3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155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6B6962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Commercial</c:v>
                  </c:pt>
                  <c:pt idx="1">
                    <c:v>Employment</c:v>
                  </c:pt>
                  <c:pt idx="2">
                    <c:v>Environmental &amp; HS</c:v>
                  </c:pt>
                  <c:pt idx="3">
                    <c:v>Corporate</c:v>
                  </c:pt>
                  <c:pt idx="4">
                    <c:v>Financial</c:v>
                  </c:pt>
                  <c:pt idx="5">
                    <c:v>Property</c:v>
                  </c:pt>
                  <c:pt idx="6">
                    <c:v>Regulatory &amp; trade</c:v>
                  </c:pt>
                  <c:pt idx="7">
                    <c:v>Transaction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</c:v>
                </c:pt>
                <c:pt idx="1">
                  <c:v>14</c:v>
                </c:pt>
                <c:pt idx="2">
                  <c:v>14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6B6962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A3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Totals are summed from each repo's answer key (docs = canonical blind room; findings = registry count; red herrings = catalogued distractors; room 01 has no distractor catalogue).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gb_synth_vdr README.md and plugin.json (v0.12.0). Projects hub card on projects.gregnb.com carries the same lineage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 of the seven rooms. Hand-built: 01–04. Generator-built: 05–07.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Halcyon (ll_vdr_01). Local checkout ~/Dev/ll_vdr_01. Built 28 May 2026. Facts taken from the repo's fact sheet, findings registry and index on 8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Halcyon (ll_vdr_02). Local checkout ~/Dev/ll_vdr_02. Built Frozen 25 Aug 2026. Facts taken from the repo's fact sheet, findings registry and index on 8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Argent (ll_vdr_03). Local checkout ~/Dev/ll_vdr_03. Built 7 Jul 2026 (key updated 25 Aug). Facts taken from the repo's fact sheet, findings registry and index on 8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Crucible (ll_vdr_04). Local checkout ~/Dev/ll_vdr_04. Built Frozen 24 Aug 2026 (v1.0-frozen). Facts taken from the repo's fact sheet, findings registry and index on 8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Quern (ll_vdr_05). Local checkout ~/Dev/ll_vdr_05. Built 1 Sep 2026. Facts taken from the repo's fact sheet, findings registry and index on 8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Cairn (ll_vdr_06). Local checkout ~/Dev/ll_vdr_06. Built 2 Sep 2026. Facts taken from the repo's fact sheet, findings registry and index on 8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Ellsgarth (ll_vdr_07). Local checkout ~/Dev/ll_vdr_07. Built 3 Sep 2026. Facts taken from the repo's fact sheet, findings registry and index on 8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guide. Rooms 05–07 also carry a classification answer key for gb-docclass. Room 07 is the designated unseen room: do not tune against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430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GREG · GB_SYNTH_VDR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rooms.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menu for testing AI tools.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fictional M&amp;A data rooms, each with a hidden set of problems that is known to be findable. Pick one, point a tool at it, and mark the output against the answer key.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Greg Baker · gregnb.com · September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138160" y="14173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412480" y="167335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CENSUS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412480" y="2542032"/>
            <a:ext cx="2971800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0" y="2103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0" y="21031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412480" y="2999232"/>
            <a:ext cx="2971800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5603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0" y="2560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9,334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412480" y="3456432"/>
            <a:ext cx="2971800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30175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Planted findings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30175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0" y="3913632"/>
            <a:ext cx="2971800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4747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herrings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87000" y="34747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412480" y="4370832"/>
            <a:ext cx="2971800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39319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companies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87000" y="39319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452628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fictional · last audited 8 Sep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THE PROJECT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gb_synth_vdr 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how good a diligence tool really is you need a data room where you already know every answer. Real rooms are confidential. Made-up rooms usually fail the other way: whoever wrote the room declares the answers, and nobody checks that a reviewer working from the documents alone could have found them.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Claude Code plugin that invents a complete deal, plants a fixed set of problems, writes the documents blind so nothing gives the game away, then sends a separate auditor into the room without telling it where anything is. A problem it cannot find does not count, and the room does not pass.
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lineage.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01 to 04 were hand-built over the summer. The plugin was distilled from them, then used to build rooms 05 to 07 end to end. It is MIT-licensed and public; the rooms are private because each one carries its own answer key.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949440" y="777240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SIX COMMANDS, RUN IN ORDER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949440" y="1874520"/>
            <a:ext cx="4693615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49440" y="1097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1097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/vdr-scope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371600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the deal, the people, the sites and the numbers. Web-checks every invented name against real businesses.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949440" y="2724912"/>
            <a:ext cx="4693615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/vdr-findings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221992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marking scheme before a word is written: each problem, its severity, its evidence documents, and the red herrings.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49440" y="3575304"/>
            <a:ext cx="4693615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2798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2798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/vdr-build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3072384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documents in waves of subagents, evidence-carrying documents first. Resumable.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49440" y="4425696"/>
            <a:ext cx="4693615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36484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36484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/vdr-qa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3922776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automated checks: no answer leakage, no stubs, figures agree, every problem reachable blind.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49440" y="5276088"/>
            <a:ext cx="4693615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49440" y="4498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/vdr-package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773168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QA strictly, builds the sample subset, renders Word and PDF, and fingerprints the room.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49440" y="6126480"/>
            <a:ext cx="4693615" cy="0"/>
          </a:xfrm>
          <a:prstGeom prst="line">
            <a:avLst/>
          </a:prstGeom>
          <a:noFill/>
          <a:ln w="9525">
            <a:solidFill>
              <a:srgbClr val="ECE9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49440" y="5349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/vdr-score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5623560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tool's output: recall, precision, false alarms, and a diff against the last run. Also scores classifiers.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github.com/gblegal/gb_synth_vdr · MIT · v0.12.0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THE MENU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rooms at a glance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463040"/>
                <a:gridCol w="2651760"/>
                <a:gridCol w="2834640"/>
                <a:gridCol w="731520"/>
                <a:gridCol w="822960"/>
                <a:gridCol w="203911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ROOM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CODENAME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TARGET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DEAL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FINDINGS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PICK IT FOR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Halcyon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Halcyon Group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Connected-building IIoT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sale of 100% to Kestrel Capital Partners. EV £250m to £350m.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 breadth; false-alarm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Halcyon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Halcyon Group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target as room 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share sale, locked box, headline EV c.£250m.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2,996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Realistic scale; multi-document trails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Argent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Argent Diagnostics Division of Calder Life Sciences plc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Specialty in-vitro diagnostics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Carve-out: hive-down then sale of 100% to Meridian Diagnostics. EV £420m.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Carve-out perimeter; sell-side pack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Crucible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Ashfell Advanced Materials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Specialty industrial coatings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Two-round auction of 100% by Wrenfield Capital. EV £725m, locked box, W&amp;I.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3,992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room; buy- and sell-side exercises; scans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Quern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Farrowmere Group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Speciality food ingredients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 buyout of 100% from the founding family by Kestrelbourne Capital.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 tuning; corrupted twins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Cairn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Helmswick Health Group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private healthcare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buyout: Loxbourne Capital sells 100% to Tarrowgate Partners. EV £165m.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 generalisation check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8A39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Ellsgarth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Corrandale Energy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renewables platform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 of 80% by Ostreve N.V. to Marrowden Infrastructure; seller rolls 20%. EV £412m.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55E75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Held-out benchmark; unseen room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CE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 = documents in the canonical blind room. Findings = entries in the answer key. All repos private under github.com/gblegal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01 · LL_VDR_01 · HAND-BUILT · 28 MAY 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Halcyon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Halcyon Group Holdings Ltd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Connected-building IIoT: SaaS platform, control hardware and field services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9339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sale, 100% of Topco, to Kestrel Capital Partners. EV £250m to £350m.  FY25 revenue £184.6m · EBITDA £28.4m · ARR £44m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 THESIS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 is buying the recurring SaaS base: the Halcyon Pulse platform with its fault-detection and demand-response IP. The vertically integrated stack of own-made devices, software layer and a national field-services arm is pitched as hard to replicate, sitting on a blue-chip utilities, real-estate and public-sector customer base with EU and US runway.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OF THE ROOM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33672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fully synthetic room. Built to test M&amp;A review tools on recall and precision across three output formats, with a deterministic Python generator so the room can be rebuilt byte-for-byte. The litigation folder carries no planted issues at all, so it doubles as a pure false-alarm trap.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E8F2F5"/>
          </a:solidFill>
          <a:ln w="9525">
            <a:solidFill>
              <a:srgbClr val="9CC4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1324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FOR TESTING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632704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breadth and false-positive rate: three file types, a 50-document folder with nothing wrong in it, and cross-document links to chase.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35240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44968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60054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69782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769782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PLANTED FINDINGS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684868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94596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4596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HERRINGS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09681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819409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819409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 DOCS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635240" y="1645920"/>
            <a:ext cx="40078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755648"/>
            <a:ext cx="3642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BY WORKSTREAM · TOP 8 OF 12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7726680" y="1938528"/>
          <a:ext cx="382493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635240" y="411480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7635240" y="4325112"/>
            <a:ext cx="40078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critical · 21 high · 26 medium · 4 low
</a:t>
            </a:r>
            <a:endParaRPr lang="en-US" sz="9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CSV masters, rendered to 569 PDF, 345 DOCX and 86 XLSX
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cross-workstream links across 35 findings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scanned, corrupted or foreign-language documents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 sits in _masters/ next to the room, so point tools at data-room/ only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github.com/gblegal/ll_vdr_01 · private · answer key in _masters/ · share the blind tree only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02 · LL_VDR_02 · HAND-BUILT · FROZEN 25 AUG 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Halcyon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Halcyon Group Holdings Ltd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Same target as room 01, rebuilt at scale to LC's index structure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9339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sale, 100%, to Kestrel Capital Partners. Locked box at 31 Dec 2025, headline EV c.£250m.  FY25 revenue £184.6m · EBITDA £28.4m · net debt £24.3m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 THESIS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 is buying for the IP first, the customer base second and the engineering team third. So the live questions are the assignment chain behind the Pulse platform, open-source hygiene, key-engineer retention and single-source supplier risk in the manufacturing arm.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OF THE ROOM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33672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realistic-scale room. Hand and LLM authored against an externally supplied skeleton index, so the folder structure looks like a real seller's room. Built for practising and testing buy-side review by people or software, with a scored set of benign look-alikes to measure false alarms.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E8F2F5"/>
          </a:solidFill>
          <a:ln w="9525">
            <a:solidFill>
              <a:srgbClr val="9CC4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1324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FOR TESTING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632704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and precision at realistic scale: nearly 3,000 unsignposted documents, 136 scored issues and 38 red herrings, with a 500-document subset that keeps every issue for faster runs.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35240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44968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2,996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60054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69782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769782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PLANTED FINDINGS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684868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94596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4596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HERRINGS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09681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819409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819409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 DOCS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635240" y="1645920"/>
            <a:ext cx="40078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755648"/>
            <a:ext cx="3642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BY WORKSTREAM · TOP 8 OF 19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7726680" y="1938528"/>
          <a:ext cx="382493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635240" y="411480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7635240" y="4325112"/>
            <a:ext cx="40078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64: 10 high · 22 medium · 10 low-medium · 22 low, plus 72 later multi-document findings
</a:t>
            </a:r>
            <a:endParaRPr lang="en-US" sz="9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CSV, with a full PDF mirror. No DOCX or XLSX
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findings only emerge by joining three or more documents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79 redacted documents and untranslated German, French, Dutch and Italian material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completed DD run (classifications, findings, RFI, risk register) is kept alongside for comparison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github.com/gblegal/ll_vdr_02 · private · answer key in _masters/ · share the blind tree only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03 · LL_VDR_03 · HAND-BUILT · 7 JUL 2026 (KEY UPDATED 25 AUG)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Argent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 Diagnostics Division of Calder Life Sciences plc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Specialty in-vitro diagnostics, accredited clinical labs and a molecular assay pipeline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9339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Carve-out: hive-down to a newco, then sale of 100% to Meridian Diagnostics Group SE with Thornhill Equity as 30% co-investor. Headline EV £420m on completion accounts.  FY25 revenue £242.3m · adjusted EBITDA £58.9m · UK, Ireland, Germany, US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 THESIS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FTSE 250 pharma-services group is shedding non-core diagnostics. The European strategic buyer gets a growing, high-margin UK diagnostics and lab platform with NHS framework revenue. The whole risk story is the perimeter: shared sites, a group ERP, a group pension scheme, the parent's brand and contracts signed by the wrong entity.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OF THE ROOM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33672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carve-out room. Built so reviewers and tools can be tested on issues that only exist because of separation: transitional services, stranded IP, section 75 debt and consent gates. Dual-use, with a sell-side marking pack (disclosure letter, Q&amp;A answers, vendor DD) alongside the buy-side key.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E8F2F5"/>
          </a:solidFill>
          <a:ln w="9525">
            <a:solidFill>
              <a:srgbClr val="9CC4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1324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FOR TESTING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632704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tool can spot what the target uses but does not own. Perimeter, TSA and stranded-asset issues that only appear when several documents are read together.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35240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44968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746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60054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69782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769782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PLANTED FINDINGS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684868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94596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4596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HERRINGS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09681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819409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819409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 DOCS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635240" y="1645920"/>
            <a:ext cx="40078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755648"/>
            <a:ext cx="3642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BY WORKSTREAM · TOP 8 OF 19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7726680" y="1938528"/>
          <a:ext cx="382493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635240" y="411480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7635240" y="4325112"/>
            <a:ext cx="40078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critical · 17 high · 38 medium · 4 low-medium; 35 multi-document
</a:t>
            </a:r>
            <a:endParaRPr lang="en-US" sz="9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CSV, PDF mirrors regenerable from tools/md2pdf
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Separation &amp; TSA section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critical items: TSA term versus ERP migration path, patents held by the parent, s75 exit debt, NHS framework held by the retained entity, entity-level UKAS accreditation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merger-control condition added August 2026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github.com/gblegal/ll_vdr_03 · private · answer key in _masters/ · share the blind tree only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04 · LL_VDR_04 · HAND-BUILT · FROZEN 24 AUG 2026 (V1.0-FROZEN)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Crucible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Ashfell Advanced Materials Holdings Ltd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Specialty industrial coatings, surface treatments and advanced resins for aerospace, energy and rail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9339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Two-round auction of 100% by sponsor Wrenfield Capital. EV £725m, locked box, stapled buy-side W&amp;I with a £1 seller cap. NSI, German FDI and US HSR conditions.  FY26 revenue £412.3m · adjusted EBITDA £68.2m · c.2,880 staff · 49% Japanese JV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 THESIS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bidder is a US-listed strategic folding Ashfell into an existing coatings platform. Assignability, exclusivity of technology, customer retention and JV vetoes are the value drivers, and as a defence-adjacent UK group the export-control and compliance exposures matter more than their cash quantum.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OF THE ROOM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33672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room, packaged as two exercises on one frozen dataset. Buy-side: red-flag report and RFI marked against the key. Sell-side: disclosure letter, Q&amp;A answering and vendor DD marked against model answers. Facilitator runsheets and marking schemes are included.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E8F2F5"/>
          </a:solidFill>
          <a:ln w="9525">
            <a:solidFill>
              <a:srgbClr val="9CC4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1324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FOR TESTING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632704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Buy-side: cross-document red flags and red-herring resistance at scale. Sell-side: disclosure discipline and honest Q&amp;A answering without over- or under-disclosing.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35240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44968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3,992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60054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69782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769782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PLANTED FINDINGS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684868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94596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4596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HERRINGS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09681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819409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900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819409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 DOCS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635240" y="1645920"/>
            <a:ext cx="40078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755648"/>
            <a:ext cx="3642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BY WORKSTREAM · TOP 8 OF 19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7726680" y="1938528"/>
          <a:ext cx="382493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635240" y="411480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7635240" y="4325112"/>
            <a:ext cx="40078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critical · 24 high · 37 medium · 24 low; 76 multi-document
</a:t>
            </a:r>
            <a:endParaRPr lang="en-US" sz="9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CSV in the repo; PDF trees (1.4 GB) on the GitHub release
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image-only scanned PDFs that force OCR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 foreign-language documents: German 91, French 79, Japanese 7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deliberate gaps in the room form the RFI marking key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model Q&amp;A answers and a warranty map for the sell-side exercise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github.com/gblegal/ll_vdr_04 · private · answer key in _masters/ · share the blind tree only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05 · LL_VDR_05 · GENERATOR · 1 SEP 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Quern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Farrowmere Group Holdings Ltd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Speciality food ingredients: bakery blends and fruit preparations, Dutch distribution arm, 40% malting JV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9339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buyout of 100% from the founding family by Kestrelbourne Capital (Fund IV) after an auction. Locked box, buy-side W&amp;I at c.£17m.  FY25 revenue £86.4m · EBITDA £11.2m · 486 FTE · net debt £22.7m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 THESIS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founder-owned, branded B2B ingredients platform growing about 10% a year, with an EU route to market since Brexit and a captive malt supply. The buyer is paying for margin-stable product lines and a succession-driven exit; the tension is one customer at 18% of revenue and a DB scheme whose buyout cost is nearly three times the disclosed figure.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OF THE ROOM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33672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room built end-to-end by the synth-vdr generator, and the tuning room for the gb-docclass classifier. Every document carries a type and workstream label, so it scores classification as well as issue-spotting. Clean, lightly corrupted and heavily corrupted twins test robustness to messy filenames, OCR noise and misfiling.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E8F2F5"/>
          </a:solidFill>
          <a:ln w="9525">
            <a:solidFill>
              <a:srgbClr val="9CC4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1324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FOR TESTING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632704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classification and OCR or filename robustness: a small, fully labelled room with light and heavy corrupted twins and a 100-document subset.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35240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44968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60054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69782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769782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PLANTED FINDINGS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684868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94596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4596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HERRINGS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09681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819409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819409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 DOCS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635240" y="1645920"/>
            <a:ext cx="40078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755648"/>
            <a:ext cx="3642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BY WORKSTREAM · TOP 8 OF 20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7726680" y="1938528"/>
          <a:ext cx="382493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635240" y="411480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7635240" y="4325112"/>
            <a:ext cx="40078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critical · 8 high · 9 medium · 7 low; every finding corroborated in a second document
</a:t>
            </a:r>
            <a:endParaRPr lang="en-US" sz="9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Markdown, with a DOCX twin of every document
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Corrupted-light: 70 documents touched. Corrupted-heavy: 136 touched, including 12 truncated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eval runs recorded: right team on c.92%, right document type on c.35%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46 invented names cleared against the web and Companies House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github.com/gblegal/ll_vdr_05 · private · answer key in _key/ · share the blind tree only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06 · LL_VDR_06 · GENERATOR · 2 SEP 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Cairn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Helmswick Health Group Holdings Ltd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UK private healthcare: diagnostic imaging, day-case clinics and NHS-commissioned community health across 27 sites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9339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buyout: Loxbourne Capital (Fund III) and management sell 100% to Tarrowgate Partners out of a competitive auction. English-law SPA, headline EV £165m.  FY26 revenue £84.6m · adjusted EBITDA £13.8m · 1,418 FTE · 50:50 NHS diagnostics JV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 THESIS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diversified, resilient revenue base with no payor above 23%, NHS contracted income plus private medical insurance volumes and fast-growing self-pay. Two new imaging centres have yet to mature, a 2.1m-record patient portal underpins the self-pay plan and the NHS JV is the route into community diagnostic centres.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OF THE ROOM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33672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independence check for gb-docclass: recognition rules tuned on Project Quern were run here unchanged to prove they generalise rather than memorise. The two critical findings are both change-of-control triggers, deliberately hidden in different workstreams. Now retired from tuning duty.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E8F2F5"/>
          </a:solidFill>
          <a:ln w="9525">
            <a:solidFill>
              <a:srgbClr val="9CC4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1324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FOR TESTING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632704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classifier or DD agent generalises: a regulated-healthcare room whose critical items are change-of-control triggers in different workstreams, with eight shape-matched red herrings.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35240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44968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60054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69782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769782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PLANTED FINDINGS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684868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94596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4596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HERRINGS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09681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819409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819409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 DOCS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635240" y="1645920"/>
            <a:ext cx="40078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755648"/>
            <a:ext cx="3642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BY WORKSTREAM · TOP 8 OF 20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7726680" y="1938528"/>
          <a:ext cx="382493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635240" y="411480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7635240" y="4325112"/>
            <a:ext cx="40078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critical · 7 high · 9 medium · 7 low; 3 cross-linked trails
</a:t>
            </a:r>
            <a:endParaRPr lang="en-US" sz="9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Markdown, with a DOCX twin of every document
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corrupted-light (70 touched) and corrupted-heavy (136 touched) versions, each with its own key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right-pile rate: 92% clean, 90% light, 88% heavy; 95% with a Claude pass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check caught a former-name register trap and a collision with room 04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github.com/gblegal/ll_vdr_06 · private · answer key in _key/ · share the blind tree only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07 · LL_VDR_07 · GENERATOR · 3 SEP 2026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Ellsgarth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Corrandale Energy Holdings Ltd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UK renewables platform: 366 MW of onshore wind, solar and battery storage across 17 entities, plus a development pipeline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93392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of 80% by Amsterdam-listed Ostreve N.V. to Marrowden Infrastructure Partners; seller rolls 20% under an SHA with put and call from year three. EV £412m, consideration £138.7m, locked box.  Net debt £238.6m · equity value £173.4m · UK merger control and NSIA conditions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DEAL THESIS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99232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infrastructure fund buying a contracted, subsidy-backed renewables platform with in-house O&amp;M and consented build-out. The retained 20% keeps the seller aligned and keeps the related-party power purchase agreement with the seller's supply arm alive, which is exactly where the risk sits.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6675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OF THE ROOM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33672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unseen eval room for gb-docclass: nothing in the classifier may be tuned against it. Frozen with all 19 QA gates passed in strict mode and a signed 25-finding key. Seven of its ten red herrings are shape-matched benign twins of a real finding.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5303520"/>
            <a:ext cx="6675120" cy="960120"/>
          </a:xfrm>
          <a:prstGeom prst="roundRect">
            <a:avLst>
              <a:gd name="adj" fmla="val 7619"/>
            </a:avLst>
          </a:prstGeom>
          <a:solidFill>
            <a:srgbClr val="E8F2F5"/>
          </a:solidFill>
          <a:ln w="9525">
            <a:solidFill>
              <a:srgbClr val="9CC4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541324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GOOD FOR TESTING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632704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E4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held-out benchmark: measuring classifier or retriever robustness to corruption, and false-alarm rate against seven benign twins, on a room no tool has seen.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35240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44968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44968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660054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69782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769782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PLANTED FINDINGS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684868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94596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794596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 HERRINGS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0709681" y="658368"/>
            <a:ext cx="933374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819409" y="768096"/>
            <a:ext cx="713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55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819409" y="1170432"/>
            <a:ext cx="7139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SUBSET DOCS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635240" y="1645920"/>
            <a:ext cx="4007815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755648"/>
            <a:ext cx="3642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 BY WORKSTREAM · TOP 8 OF 20</a:t>
            </a:r>
            <a:endParaRPr lang="en-US" sz="7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7726680" y="1938528"/>
          <a:ext cx="382493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635240" y="411480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DETAILS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7635240" y="4325112"/>
            <a:ext cx="400781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critical · 7 high · 9 medium · 7 low; 23 multi-document
</a:t>
            </a:r>
            <a:endParaRPr lang="en-US" sz="9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 </a:t>
            </a:r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Markdown, with a DOCX twin of every document
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corrupted-light (70 touched) and corrupted-heavy (136 touched) versions, each with its own key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right-pile rate: 90% clean, 89% light, 87% heavy</a:t>
            </a:r>
            <a:endParaRPr lang="en-US" sz="900" dirty="0"/>
          </a:p>
          <a:p>
            <a:pPr marL="127000" indent="-1270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invented names cleared; four rejected candidates recorded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github.com/gblegal/ll_vdr_07 · private · answer key in _key/ · share the blind tree only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CHOOSING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room to pick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quick, fully labelled eval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95728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ROOMS 05, 06, 07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33472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documents, DOCX twins, a 100-document subset, and a type-and-workstream label on every file. Run in an afternoon.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38218" y="1554480"/>
            <a:ext cx="351525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66818" y="1755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0116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scale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66818" y="2395728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ROOMS 02, 04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2633472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 four thousand documents with the mess of a real seller's room: redactions, foreign-language material, draft-versus-executed pairs.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27797" y="1554480"/>
            <a:ext cx="351525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6397" y="1755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56397" y="20116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carve-out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56397" y="2395728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356397" y="2633472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Perimeter, TSA, stranded IP and section 75 issues that only exist because the business is being separated from a parent.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351525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3813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069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Scanned and corrupted input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453128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ROOMS 04, 05, 06, 07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690872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Image-only PDFs in 04; renamed, misfiled, OCR-noised and truncated twins in 05 to 07, each with a key that follows the mess.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338218" y="3611880"/>
            <a:ext cx="351525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66818" y="3813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66818" y="4069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sell-side exercise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66818" y="4453128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ROOMS 03, 04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566818" y="4690872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letter, Q&amp;A answering and vendor DD marked against model answers, with facilitator runsheets in 04.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127797" y="3611880"/>
            <a:ext cx="351525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ECE9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356397" y="3813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356397" y="40690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held-out benchmark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56397" y="4453128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55E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 07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356397" y="4690872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B69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Frozen, unseen by any tool, all nineteen QA gates passed in strict mode. Nothing may be tuned against it.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150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Practicalities.  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3A3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 is a private repo under github.com/gblegal, with a local checkout at ~/Dev. The answer key lives inside the repo, so share only the blind tree with a tool or a testee. Every company, person, site and product name is invented and was checked against the web and Companies House. Nothing here is real client or deal data. Ask Greg for access.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465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A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greg.baker@linklaters.com · gregnb.com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gregnb.com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data rooms</dc:title>
  <dc:subject>PptxGenJS Presentation</dc:subject>
  <dc:creator>Greg Baker</dc:creator>
  <cp:lastModifiedBy>Greg Baker</cp:lastModifiedBy>
  <cp:revision>1</cp:revision>
  <dcterms:created xsi:type="dcterms:W3CDTF">2026-09-08T15:44:37Z</dcterms:created>
  <dcterms:modified xsi:type="dcterms:W3CDTF">2026-09-08T15:44:37Z</dcterms:modified>
</cp:coreProperties>
</file>